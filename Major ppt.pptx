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4" r:id="rId3"/>
    <p:sldId id="259" r:id="rId4"/>
    <p:sldId id="285" r:id="rId5"/>
    <p:sldId id="315" r:id="rId6"/>
    <p:sldId id="316" r:id="rId7"/>
    <p:sldId id="317" r:id="rId8"/>
    <p:sldId id="320" r:id="rId9"/>
    <p:sldId id="289" r:id="rId10"/>
    <p:sldId id="290" r:id="rId11"/>
    <p:sldId id="291" r:id="rId12"/>
    <p:sldId id="321" r:id="rId13"/>
    <p:sldId id="322" r:id="rId14"/>
    <p:sldId id="318" r:id="rId15"/>
    <p:sldId id="323" r:id="rId16"/>
    <p:sldId id="319" r:id="rId17"/>
    <p:sldId id="314" r:id="rId18"/>
    <p:sldId id="30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E0BE2F-D0E7-483C-AB61-CA9FCEB18637}" v="1" dt="2025-05-23T06:52:38.3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ithabodramoni@outlook.com" userId="bf2d778f342a48d2" providerId="LiveId" clId="{34E0BE2F-D0E7-483C-AB61-CA9FCEB18637}"/>
    <pc:docChg chg="custSel addSld modSld">
      <pc:chgData name="nikithabodramoni@outlook.com" userId="bf2d778f342a48d2" providerId="LiveId" clId="{34E0BE2F-D0E7-483C-AB61-CA9FCEB18637}" dt="2025-05-23T06:59:02.095" v="513" actId="113"/>
      <pc:docMkLst>
        <pc:docMk/>
      </pc:docMkLst>
      <pc:sldChg chg="modSp mod">
        <pc:chgData name="nikithabodramoni@outlook.com" userId="bf2d778f342a48d2" providerId="LiveId" clId="{34E0BE2F-D0E7-483C-AB61-CA9FCEB18637}" dt="2025-05-15T09:12:41.068" v="412" actId="1076"/>
        <pc:sldMkLst>
          <pc:docMk/>
          <pc:sldMk cId="4070057893" sldId="257"/>
        </pc:sldMkLst>
        <pc:spChg chg="mod">
          <ac:chgData name="nikithabodramoni@outlook.com" userId="bf2d778f342a48d2" providerId="LiveId" clId="{34E0BE2F-D0E7-483C-AB61-CA9FCEB18637}" dt="2025-05-15T09:12:36.177" v="411" actId="20577"/>
          <ac:spMkLst>
            <pc:docMk/>
            <pc:sldMk cId="4070057893" sldId="257"/>
            <ac:spMk id="5" creationId="{0CDCA701-0C10-8AD4-7D58-FF68023080B9}"/>
          </ac:spMkLst>
        </pc:spChg>
        <pc:picChg chg="mod">
          <ac:chgData name="nikithabodramoni@outlook.com" userId="bf2d778f342a48d2" providerId="LiveId" clId="{34E0BE2F-D0E7-483C-AB61-CA9FCEB18637}" dt="2025-05-15T09:12:41.068" v="412" actId="1076"/>
          <ac:picMkLst>
            <pc:docMk/>
            <pc:sldMk cId="4070057893" sldId="257"/>
            <ac:picMk id="7" creationId="{F1A4708B-2BA1-2D2C-D284-6ECDB451670E}"/>
          </ac:picMkLst>
        </pc:picChg>
      </pc:sldChg>
      <pc:sldChg chg="modSp mod">
        <pc:chgData name="nikithabodramoni@outlook.com" userId="bf2d778f342a48d2" providerId="LiveId" clId="{34E0BE2F-D0E7-483C-AB61-CA9FCEB18637}" dt="2025-05-23T06:59:02.095" v="513" actId="113"/>
        <pc:sldMkLst>
          <pc:docMk/>
          <pc:sldMk cId="1786517272" sldId="315"/>
        </pc:sldMkLst>
        <pc:spChg chg="mod">
          <ac:chgData name="nikithabodramoni@outlook.com" userId="bf2d778f342a48d2" providerId="LiveId" clId="{34E0BE2F-D0E7-483C-AB61-CA9FCEB18637}" dt="2025-05-23T06:47:31.689" v="424" actId="14100"/>
          <ac:spMkLst>
            <pc:docMk/>
            <pc:sldMk cId="1786517272" sldId="315"/>
            <ac:spMk id="2" creationId="{1FD3A1A9-2830-23BE-6FA9-3A357C094643}"/>
          </ac:spMkLst>
        </pc:spChg>
        <pc:spChg chg="mod">
          <ac:chgData name="nikithabodramoni@outlook.com" userId="bf2d778f342a48d2" providerId="LiveId" clId="{34E0BE2F-D0E7-483C-AB61-CA9FCEB18637}" dt="2025-05-23T06:59:02.095" v="513" actId="113"/>
          <ac:spMkLst>
            <pc:docMk/>
            <pc:sldMk cId="1786517272" sldId="315"/>
            <ac:spMk id="3" creationId="{4454089E-DFB8-3889-F1B9-CEBEDC2A097A}"/>
          </ac:spMkLst>
        </pc:spChg>
      </pc:sldChg>
      <pc:sldChg chg="modSp mod">
        <pc:chgData name="nikithabodramoni@outlook.com" userId="bf2d778f342a48d2" providerId="LiveId" clId="{34E0BE2F-D0E7-483C-AB61-CA9FCEB18637}" dt="2025-05-23T06:49:51.464" v="460" actId="20577"/>
        <pc:sldMkLst>
          <pc:docMk/>
          <pc:sldMk cId="324459117" sldId="317"/>
        </pc:sldMkLst>
        <pc:spChg chg="mod">
          <ac:chgData name="nikithabodramoni@outlook.com" userId="bf2d778f342a48d2" providerId="LiveId" clId="{34E0BE2F-D0E7-483C-AB61-CA9FCEB18637}" dt="2025-05-23T06:49:51.464" v="460" actId="20577"/>
          <ac:spMkLst>
            <pc:docMk/>
            <pc:sldMk cId="324459117" sldId="317"/>
            <ac:spMk id="3" creationId="{41D3E154-2B71-16EC-5C04-D4AE3A05F844}"/>
          </ac:spMkLst>
        </pc:spChg>
      </pc:sldChg>
      <pc:sldChg chg="addSp delSp modSp new mod">
        <pc:chgData name="nikithabodramoni@outlook.com" userId="bf2d778f342a48d2" providerId="LiveId" clId="{34E0BE2F-D0E7-483C-AB61-CA9FCEB18637}" dt="2025-05-23T06:57:51.388" v="511" actId="113"/>
        <pc:sldMkLst>
          <pc:docMk/>
          <pc:sldMk cId="2890937219" sldId="321"/>
        </pc:sldMkLst>
        <pc:spChg chg="mod">
          <ac:chgData name="nikithabodramoni@outlook.com" userId="bf2d778f342a48d2" providerId="LiveId" clId="{34E0BE2F-D0E7-483C-AB61-CA9FCEB18637}" dt="2025-05-23T06:57:51.388" v="511" actId="113"/>
          <ac:spMkLst>
            <pc:docMk/>
            <pc:sldMk cId="2890937219" sldId="321"/>
            <ac:spMk id="2" creationId="{C5D24AB4-693C-F461-58E3-D4EB39667CFC}"/>
          </ac:spMkLst>
        </pc:spChg>
        <pc:spChg chg="del">
          <ac:chgData name="nikithabodramoni@outlook.com" userId="bf2d778f342a48d2" providerId="LiveId" clId="{34E0BE2F-D0E7-483C-AB61-CA9FCEB18637}" dt="2025-05-23T06:52:38.301" v="482"/>
          <ac:spMkLst>
            <pc:docMk/>
            <pc:sldMk cId="2890937219" sldId="321"/>
            <ac:spMk id="3" creationId="{15D18684-53A0-E53D-B7D5-A180D3C0C7A1}"/>
          </ac:spMkLst>
        </pc:spChg>
        <pc:picChg chg="add mod">
          <ac:chgData name="nikithabodramoni@outlook.com" userId="bf2d778f342a48d2" providerId="LiveId" clId="{34E0BE2F-D0E7-483C-AB61-CA9FCEB18637}" dt="2025-05-23T06:52:59.359" v="487" actId="14100"/>
          <ac:picMkLst>
            <pc:docMk/>
            <pc:sldMk cId="2890937219" sldId="321"/>
            <ac:picMk id="4" creationId="{D211BB47-33BC-E8FF-6389-B53EBD0146AC}"/>
          </ac:picMkLst>
        </pc:picChg>
      </pc:sldChg>
      <pc:sldChg chg="modSp new mod">
        <pc:chgData name="nikithabodramoni@outlook.com" userId="bf2d778f342a48d2" providerId="LiveId" clId="{34E0BE2F-D0E7-483C-AB61-CA9FCEB18637}" dt="2025-05-23T06:56:37.534" v="510" actId="123"/>
        <pc:sldMkLst>
          <pc:docMk/>
          <pc:sldMk cId="446303122" sldId="322"/>
        </pc:sldMkLst>
        <pc:spChg chg="mod">
          <ac:chgData name="nikithabodramoni@outlook.com" userId="bf2d778f342a48d2" providerId="LiveId" clId="{34E0BE2F-D0E7-483C-AB61-CA9FCEB18637}" dt="2025-05-23T06:56:12.656" v="501" actId="113"/>
          <ac:spMkLst>
            <pc:docMk/>
            <pc:sldMk cId="446303122" sldId="322"/>
            <ac:spMk id="2" creationId="{CCA0B2C7-2491-675F-5DB7-848917C05497}"/>
          </ac:spMkLst>
        </pc:spChg>
        <pc:spChg chg="mod">
          <ac:chgData name="nikithabodramoni@outlook.com" userId="bf2d778f342a48d2" providerId="LiveId" clId="{34E0BE2F-D0E7-483C-AB61-CA9FCEB18637}" dt="2025-05-23T06:56:37.534" v="510" actId="123"/>
          <ac:spMkLst>
            <pc:docMk/>
            <pc:sldMk cId="446303122" sldId="322"/>
            <ac:spMk id="3" creationId="{725ADC15-F7E9-96D1-90C3-F6A8A63AEE3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8A43D-78E1-0A88-1F99-52509B4E65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A132C8-4B4A-F252-4751-BF6F380136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1B6ED87-ED4D-C188-A3E5-A667EE97F745}"/>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5" name="Footer Placeholder 4">
            <a:extLst>
              <a:ext uri="{FF2B5EF4-FFF2-40B4-BE49-F238E27FC236}">
                <a16:creationId xmlns:a16="http://schemas.microsoft.com/office/drawing/2014/main" id="{1F483906-1175-DC0F-CAAE-05A2E4E731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893270-3609-6A31-FE06-551BB55FBDE7}"/>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2413144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BDF37-197C-68AF-8292-89FA8DFD8F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A3CD9B-40BE-FC0F-8049-B8490DFBF0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E4F6F9-5716-9DC9-B4D4-65A36C08ED7F}"/>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5" name="Footer Placeholder 4">
            <a:extLst>
              <a:ext uri="{FF2B5EF4-FFF2-40B4-BE49-F238E27FC236}">
                <a16:creationId xmlns:a16="http://schemas.microsoft.com/office/drawing/2014/main" id="{4B84ED94-1E08-8700-162D-AFAD6878D7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E0898C-567B-D701-0844-C7C87D77C9DF}"/>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3109304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F433B-BD59-42BF-8324-CF43CC88A8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E1967A-9F19-2FD4-FB5C-167AAE72B4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F82D38-75B6-B68C-78E8-645D813A4EF9}"/>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5" name="Footer Placeholder 4">
            <a:extLst>
              <a:ext uri="{FF2B5EF4-FFF2-40B4-BE49-F238E27FC236}">
                <a16:creationId xmlns:a16="http://schemas.microsoft.com/office/drawing/2014/main" id="{F3F8A9E5-AFDC-B9AD-8C36-834FE4082B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5DB5C3-A90A-5EC9-C0CA-EFD336014793}"/>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193677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B58BF-013A-1AFE-53EF-ABC13FA76A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D157EA-6BAA-F5F0-9510-3A489F419A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3F80AB-D4CF-FA46-1F72-61F0D42A2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B826250-6BBB-8939-3583-5C2EB1D3312F}"/>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6" name="Footer Placeholder 5">
            <a:extLst>
              <a:ext uri="{FF2B5EF4-FFF2-40B4-BE49-F238E27FC236}">
                <a16:creationId xmlns:a16="http://schemas.microsoft.com/office/drawing/2014/main" id="{5AED9D6A-13C4-3C73-DCE6-0CC22614F8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6DB7CD-D924-2F6D-02B1-6C72C1BB6FDA}"/>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346028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B0463-F880-F2C9-84B2-55E94D59A3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A18DE7-29A4-367F-EA36-4AF8D2EA16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275148-B246-360C-D756-779CBBE2FE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50BB47-9523-B117-9132-14D5CCF38C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FE2FDA-6E35-C93C-A61C-E66A32DD99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9BEA43-8E93-1AC8-9ACF-01747BA9DAF3}"/>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8" name="Footer Placeholder 7">
            <a:extLst>
              <a:ext uri="{FF2B5EF4-FFF2-40B4-BE49-F238E27FC236}">
                <a16:creationId xmlns:a16="http://schemas.microsoft.com/office/drawing/2014/main" id="{E14CCE09-D0D0-DC7F-76D2-701745A1CE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DA9C4B-9FEC-4BE5-11A2-D4E241E426F1}"/>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4292933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113AD-FED9-DDF7-241B-D04271D5AF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9B37098-8BA4-818D-44AF-F91383E7594B}"/>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4" name="Footer Placeholder 3">
            <a:extLst>
              <a:ext uri="{FF2B5EF4-FFF2-40B4-BE49-F238E27FC236}">
                <a16:creationId xmlns:a16="http://schemas.microsoft.com/office/drawing/2014/main" id="{8F699749-ECE8-4EEB-A03A-8A111C2FB3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E2066A-0876-625C-1CE2-E1D2DD477F1E}"/>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87297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434E6E-5B4A-034D-3ACC-9EE14AEAA23F}"/>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3" name="Footer Placeholder 2">
            <a:extLst>
              <a:ext uri="{FF2B5EF4-FFF2-40B4-BE49-F238E27FC236}">
                <a16:creationId xmlns:a16="http://schemas.microsoft.com/office/drawing/2014/main" id="{D424F487-6329-D38A-0008-D2EDDF05B2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7B16DF-CAC3-A5D6-6095-2323064ED0EB}"/>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304695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19C0-A7C4-D1B7-ED54-E253A2255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89C7B6-6321-C696-0B54-141F529F68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4C26502-C768-B984-2801-D4D763BDE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115687-3FEC-807E-E251-0031477EF37B}"/>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6" name="Footer Placeholder 5">
            <a:extLst>
              <a:ext uri="{FF2B5EF4-FFF2-40B4-BE49-F238E27FC236}">
                <a16:creationId xmlns:a16="http://schemas.microsoft.com/office/drawing/2014/main" id="{FE0431DC-7F55-842C-DF66-8D16276E55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02D2C6-FEF2-6A3E-DB05-33D1CAC4B88F}"/>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1696051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3553-DFCC-1A2B-88CC-CD484E0A7E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7E0EF7-DFDE-C1E2-2874-52CDF1CDB1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FFED40A-80AE-88D3-8E3D-E30DCF201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AAE207-33BD-C390-DC6F-D76B6B685CB5}"/>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6" name="Footer Placeholder 5">
            <a:extLst>
              <a:ext uri="{FF2B5EF4-FFF2-40B4-BE49-F238E27FC236}">
                <a16:creationId xmlns:a16="http://schemas.microsoft.com/office/drawing/2014/main" id="{FF9E6EED-C029-B24C-BDA3-5309906444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5D98D9-0B5D-D05D-822F-A8585DD4E427}"/>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3295430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7C9EE-B9CC-F081-7B9C-FA26C7101E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D08C73-9282-31B7-6C85-6A46881A0B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F148C7-455D-A23B-6501-01DCA0D28CE0}"/>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5" name="Footer Placeholder 4">
            <a:extLst>
              <a:ext uri="{FF2B5EF4-FFF2-40B4-BE49-F238E27FC236}">
                <a16:creationId xmlns:a16="http://schemas.microsoft.com/office/drawing/2014/main" id="{A06A157F-999E-B6C5-90C6-DB7044063B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F055F6-EC42-8B88-2B2A-C48FE754025B}"/>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1915608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720E61-5BDF-B833-FE90-2EB0D63D94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837DC-D159-EF52-974D-3A55FF356D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D82D53-117F-BAD6-B2FD-6C34EF69D04F}"/>
              </a:ext>
            </a:extLst>
          </p:cNvPr>
          <p:cNvSpPr>
            <a:spLocks noGrp="1"/>
          </p:cNvSpPr>
          <p:nvPr>
            <p:ph type="dt" sz="half" idx="10"/>
          </p:nvPr>
        </p:nvSpPr>
        <p:spPr/>
        <p:txBody>
          <a:bodyPr/>
          <a:lstStyle/>
          <a:p>
            <a:fld id="{D9809E50-3678-4931-984D-D1A73C1D1BF3}" type="datetimeFigureOut">
              <a:rPr lang="en-IN" smtClean="0"/>
              <a:t>24-05-2025</a:t>
            </a:fld>
            <a:endParaRPr lang="en-IN"/>
          </a:p>
        </p:txBody>
      </p:sp>
      <p:sp>
        <p:nvSpPr>
          <p:cNvPr id="5" name="Footer Placeholder 4">
            <a:extLst>
              <a:ext uri="{FF2B5EF4-FFF2-40B4-BE49-F238E27FC236}">
                <a16:creationId xmlns:a16="http://schemas.microsoft.com/office/drawing/2014/main" id="{6404E1F3-779F-C6AA-A465-D1AA4235A2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AF0641-3209-1E4D-B580-4C94A8CFE1CF}"/>
              </a:ext>
            </a:extLst>
          </p:cNvPr>
          <p:cNvSpPr>
            <a:spLocks noGrp="1"/>
          </p:cNvSpPr>
          <p:nvPr>
            <p:ph type="sldNum" sz="quarter" idx="12"/>
          </p:nvPr>
        </p:nvSpPr>
        <p:spPr/>
        <p:txBody>
          <a:bodyPr/>
          <a:lstStyle/>
          <a:p>
            <a:fld id="{35F1166D-2FA4-4F52-BFF4-2DE499973ACE}" type="slidenum">
              <a:rPr lang="en-IN" smtClean="0"/>
              <a:t>‹#›</a:t>
            </a:fld>
            <a:endParaRPr lang="en-IN"/>
          </a:p>
        </p:txBody>
      </p:sp>
    </p:spTree>
    <p:extLst>
      <p:ext uri="{BB962C8B-B14F-4D97-AF65-F5344CB8AC3E}">
        <p14:creationId xmlns:p14="http://schemas.microsoft.com/office/powerpoint/2010/main" val="2139427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E213E1-5216-8C20-F975-6CD2410C66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C33FF2-F6B3-3FDE-9AE6-59CFB3F7F3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7419C4-5A91-6558-F0EA-66283D83C2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809E50-3678-4931-984D-D1A73C1D1BF3}" type="datetimeFigureOut">
              <a:rPr lang="en-IN" smtClean="0"/>
              <a:t>24-05-2025</a:t>
            </a:fld>
            <a:endParaRPr lang="en-IN"/>
          </a:p>
        </p:txBody>
      </p:sp>
      <p:sp>
        <p:nvSpPr>
          <p:cNvPr id="5" name="Footer Placeholder 4">
            <a:extLst>
              <a:ext uri="{FF2B5EF4-FFF2-40B4-BE49-F238E27FC236}">
                <a16:creationId xmlns:a16="http://schemas.microsoft.com/office/drawing/2014/main" id="{CA8EE063-21CA-A6A9-9842-F6AAA28E01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F0FBB0B-12EF-6941-96C4-0E5667FCBE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F1166D-2FA4-4F52-BFF4-2DE499973ACE}" type="slidenum">
              <a:rPr lang="en-IN" smtClean="0"/>
              <a:t>‹#›</a:t>
            </a:fld>
            <a:endParaRPr lang="en-IN"/>
          </a:p>
        </p:txBody>
      </p:sp>
    </p:spTree>
    <p:extLst>
      <p:ext uri="{BB962C8B-B14F-4D97-AF65-F5344CB8AC3E}">
        <p14:creationId xmlns:p14="http://schemas.microsoft.com/office/powerpoint/2010/main" val="1827023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DCA701-0C10-8AD4-7D58-FF68023080B9}"/>
              </a:ext>
            </a:extLst>
          </p:cNvPr>
          <p:cNvSpPr txBox="1"/>
          <p:nvPr/>
        </p:nvSpPr>
        <p:spPr>
          <a:xfrm>
            <a:off x="96518" y="94817"/>
            <a:ext cx="12095482" cy="6709529"/>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Major Project on</a:t>
            </a:r>
            <a:br>
              <a:rPr lang="en-IN" sz="12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effectLst/>
                <a:latin typeface="Times New Roman" panose="02020603050405020304" pitchFamily="18" charset="0"/>
                <a:ea typeface="Calibri" panose="020F0502020204030204" pitchFamily="34" charset="0"/>
              </a:rPr>
              <a:t>Profile Hunter: A Smart Framework for Identifying Social Media Impersonation</a:t>
            </a:r>
          </a:p>
          <a:p>
            <a:pPr algn="ctr"/>
            <a:r>
              <a:rPr lang="en-IN" sz="2000" b="1" dirty="0">
                <a:effectLst/>
                <a:latin typeface="Times New Roman" panose="02020603050405020304" pitchFamily="18" charset="0"/>
                <a:ea typeface="Calibri" panose="020F0502020204030204" pitchFamily="34" charset="0"/>
              </a:rPr>
              <a:t> Using Machine Learning</a:t>
            </a:r>
            <a:br>
              <a:rPr lang="en-IN" sz="2800"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by</a:t>
            </a:r>
          </a:p>
          <a:p>
            <a:r>
              <a:rPr lang="en-IN" dirty="0">
                <a:latin typeface="Times New Roman" panose="02020603050405020304" pitchFamily="18" charset="0"/>
                <a:cs typeface="Times New Roman" panose="02020603050405020304" pitchFamily="18" charset="0"/>
              </a:rPr>
              <a:t>                                                                                 1. </a:t>
            </a:r>
            <a:r>
              <a:rPr lang="en-IN" dirty="0" err="1">
                <a:latin typeface="Times New Roman" panose="02020603050405020304" pitchFamily="18" charset="0"/>
                <a:cs typeface="Times New Roman" panose="02020603050405020304" pitchFamily="18" charset="0"/>
              </a:rPr>
              <a:t>B.Nikitha</a:t>
            </a:r>
            <a:r>
              <a:rPr lang="en-IN" dirty="0">
                <a:latin typeface="Times New Roman" panose="02020603050405020304" pitchFamily="18" charset="0"/>
                <a:cs typeface="Times New Roman" panose="02020603050405020304" pitchFamily="18" charset="0"/>
              </a:rPr>
              <a:t> -21N81A6716</a:t>
            </a:r>
          </a:p>
          <a:p>
            <a:r>
              <a:rPr lang="en-IN" dirty="0">
                <a:latin typeface="Times New Roman" panose="02020603050405020304" pitchFamily="18" charset="0"/>
                <a:cs typeface="Times New Roman" panose="02020603050405020304" pitchFamily="18" charset="0"/>
              </a:rPr>
              <a:t>                                                                                 2. </a:t>
            </a:r>
            <a:r>
              <a:rPr lang="en-IN" dirty="0" err="1">
                <a:latin typeface="Times New Roman" panose="02020603050405020304" pitchFamily="18" charset="0"/>
                <a:cs typeface="Times New Roman" panose="02020603050405020304" pitchFamily="18" charset="0"/>
              </a:rPr>
              <a:t>Venkatesh</a:t>
            </a:r>
            <a:r>
              <a:rPr lang="en-IN" dirty="0">
                <a:latin typeface="Times New Roman" panose="02020603050405020304" pitchFamily="18" charset="0"/>
                <a:cs typeface="Times New Roman" panose="02020603050405020304" pitchFamily="18" charset="0"/>
              </a:rPr>
              <a:t> Sharma -21N81A6732</a:t>
            </a:r>
          </a:p>
          <a:p>
            <a:r>
              <a:rPr lang="en-IN" dirty="0">
                <a:latin typeface="Times New Roman" panose="02020603050405020304" pitchFamily="18" charset="0"/>
                <a:cs typeface="Times New Roman" panose="02020603050405020304" pitchFamily="18" charset="0"/>
              </a:rPr>
              <a:t>                                                                                 3. </a:t>
            </a:r>
            <a:r>
              <a:rPr lang="en-IN" dirty="0" err="1">
                <a:latin typeface="Times New Roman" panose="02020603050405020304" pitchFamily="18" charset="0"/>
                <a:cs typeface="Times New Roman" panose="02020603050405020304" pitchFamily="18" charset="0"/>
              </a:rPr>
              <a:t>B.Lakshmi</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Charan</a:t>
            </a:r>
            <a:r>
              <a:rPr lang="en-IN" dirty="0">
                <a:latin typeface="Times New Roman" panose="02020603050405020304" pitchFamily="18" charset="0"/>
                <a:cs typeface="Times New Roman" panose="02020603050405020304" pitchFamily="18" charset="0"/>
              </a:rPr>
              <a:t> Reddy -21N81A6750</a:t>
            </a:r>
          </a:p>
          <a:p>
            <a:r>
              <a:rPr lang="en-IN" dirty="0">
                <a:latin typeface="Times New Roman" panose="02020603050405020304" pitchFamily="18" charset="0"/>
                <a:cs typeface="Times New Roman" panose="02020603050405020304" pitchFamily="18" charset="0"/>
              </a:rPr>
              <a:t>                                                                                 4. </a:t>
            </a:r>
            <a:r>
              <a:rPr lang="en-IN" dirty="0" err="1">
                <a:latin typeface="Times New Roman" panose="02020603050405020304" pitchFamily="18" charset="0"/>
                <a:cs typeface="Times New Roman" panose="02020603050405020304" pitchFamily="18" charset="0"/>
              </a:rPr>
              <a:t>K.Tarun</a:t>
            </a:r>
            <a:r>
              <a:rPr lang="en-IN" dirty="0">
                <a:latin typeface="Times New Roman" panose="02020603050405020304" pitchFamily="18" charset="0"/>
                <a:cs typeface="Times New Roman" panose="02020603050405020304" pitchFamily="18" charset="0"/>
              </a:rPr>
              <a:t> Singh - 22N85A6708</a:t>
            </a:r>
            <a:endParaRPr lang="en-IN" sz="1200" dirty="0">
              <a:latin typeface="Times New Roman" panose="02020603050405020304" pitchFamily="18" charset="0"/>
              <a:cs typeface="Times New Roman" panose="02020603050405020304" pitchFamily="18" charset="0"/>
            </a:endParaRPr>
          </a:p>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Under the supervision of</a:t>
            </a:r>
          </a:p>
          <a:p>
            <a:pPr algn="ctr"/>
            <a:r>
              <a:rPr lang="en-IN" dirty="0">
                <a:latin typeface="Times New Roman" panose="02020603050405020304" pitchFamily="18" charset="0"/>
                <a:cs typeface="Times New Roman" panose="02020603050405020304" pitchFamily="18" charset="0"/>
              </a:rPr>
              <a:t> Mrs .A. </a:t>
            </a:r>
            <a:r>
              <a:rPr lang="en-IN" dirty="0" err="1">
                <a:latin typeface="Times New Roman" panose="02020603050405020304" pitchFamily="18" charset="0"/>
                <a:cs typeface="Times New Roman" panose="02020603050405020304" pitchFamily="18" charset="0"/>
              </a:rPr>
              <a:t>Sravanthi,</a:t>
            </a:r>
            <a:r>
              <a:rPr lang="en-IN" sz="1200" dirty="0" err="1">
                <a:latin typeface="Times New Roman" panose="02020603050405020304" pitchFamily="18" charset="0"/>
                <a:cs typeface="Times New Roman" panose="02020603050405020304" pitchFamily="18" charset="0"/>
              </a:rPr>
              <a:t>MCA</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M.Tech</a:t>
            </a:r>
            <a:r>
              <a:rPr lang="en-IN" sz="1200" dirty="0">
                <a:latin typeface="Times New Roman" panose="02020603050405020304" pitchFamily="18" charset="0"/>
                <a:cs typeface="Times New Roman" panose="02020603050405020304" pitchFamily="18" charset="0"/>
              </a:rPr>
              <a:t>.</a:t>
            </a:r>
          </a:p>
          <a:p>
            <a:pPr algn="ctr"/>
            <a:r>
              <a:rPr lang="en-IN" dirty="0">
                <a:latin typeface="Times New Roman" panose="02020603050405020304" pitchFamily="18" charset="0"/>
                <a:cs typeface="Times New Roman" panose="02020603050405020304" pitchFamily="18" charset="0"/>
              </a:rPr>
              <a:t>Assistant Professor</a:t>
            </a:r>
          </a:p>
          <a:p>
            <a:pPr algn="ctr"/>
            <a:endParaRPr lang="en-IN" sz="1200" dirty="0"/>
          </a:p>
          <a:p>
            <a:pPr algn="ctr"/>
            <a:endParaRPr lang="en-IN" dirty="0"/>
          </a:p>
          <a:p>
            <a:pPr algn="ctr"/>
            <a:endParaRPr lang="en-IN" sz="1800" dirty="0"/>
          </a:p>
          <a:p>
            <a:pPr algn="ctr"/>
            <a:endParaRPr lang="en-IN" dirty="0"/>
          </a:p>
          <a:p>
            <a:pPr algn="ctr"/>
            <a:endParaRPr lang="en-IN" dirty="0"/>
          </a:p>
          <a:p>
            <a:pPr algn="ctr"/>
            <a:endParaRPr lang="en-IN" sz="1800" dirty="0"/>
          </a:p>
          <a:p>
            <a:pPr algn="ctr"/>
            <a:br>
              <a:rPr lang="en-IN" sz="1800" dirty="0"/>
            </a:br>
            <a:endParaRPr lang="en-IN" dirty="0"/>
          </a:p>
          <a:p>
            <a:pPr algn="ctr"/>
            <a:endParaRPr lang="en-IN" dirty="0"/>
          </a:p>
          <a:p>
            <a:pPr algn="ctr"/>
            <a:endParaRPr lang="en-IN" dirty="0"/>
          </a:p>
          <a:p>
            <a:pPr algn="ctr"/>
            <a:endParaRPr lang="en-IN" dirty="0"/>
          </a:p>
        </p:txBody>
      </p:sp>
      <p:pic>
        <p:nvPicPr>
          <p:cNvPr id="7" name="Picture 6">
            <a:extLst>
              <a:ext uri="{FF2B5EF4-FFF2-40B4-BE49-F238E27FC236}">
                <a16:creationId xmlns:a16="http://schemas.microsoft.com/office/drawing/2014/main" id="{F1A4708B-2BA1-2D2C-D284-6ECDB4516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9558" y="3842380"/>
            <a:ext cx="1389401" cy="1352823"/>
          </a:xfrm>
          <a:prstGeom prst="rect">
            <a:avLst/>
          </a:prstGeom>
        </p:spPr>
      </p:pic>
      <p:sp>
        <p:nvSpPr>
          <p:cNvPr id="10" name="TextBox 9">
            <a:extLst>
              <a:ext uri="{FF2B5EF4-FFF2-40B4-BE49-F238E27FC236}">
                <a16:creationId xmlns:a16="http://schemas.microsoft.com/office/drawing/2014/main" id="{11132CF3-6641-8886-00BC-6370EB80873C}"/>
              </a:ext>
            </a:extLst>
          </p:cNvPr>
          <p:cNvSpPr txBox="1"/>
          <p:nvPr/>
        </p:nvSpPr>
        <p:spPr>
          <a:xfrm rot="10800000" flipV="1">
            <a:off x="513082" y="5085781"/>
            <a:ext cx="11582400" cy="1015663"/>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Department of CSE-Data Science</a:t>
            </a:r>
            <a:br>
              <a:rPr lang="en-IN" sz="2000" dirty="0">
                <a:latin typeface="Times New Roman" panose="02020603050405020304" pitchFamily="18" charset="0"/>
                <a:cs typeface="Times New Roman" panose="02020603050405020304" pitchFamily="18" charset="0"/>
              </a:rPr>
            </a:br>
            <a:r>
              <a:rPr lang="en-IN" sz="2000" b="1" dirty="0" err="1">
                <a:latin typeface="Times New Roman" panose="02020603050405020304" pitchFamily="18" charset="0"/>
                <a:cs typeface="Times New Roman" panose="02020603050405020304" pitchFamily="18" charset="0"/>
              </a:rPr>
              <a:t>Sphoorthy</a:t>
            </a:r>
            <a:r>
              <a:rPr lang="en-IN" sz="2000" b="1" dirty="0">
                <a:latin typeface="Times New Roman" panose="02020603050405020304" pitchFamily="18" charset="0"/>
                <a:cs typeface="Times New Roman" panose="02020603050405020304" pitchFamily="18" charset="0"/>
              </a:rPr>
              <a:t> Engineering College</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(Affiliated to JNTUH Approved by AICTE)</a:t>
            </a:r>
          </a:p>
        </p:txBody>
      </p:sp>
    </p:spTree>
    <p:extLst>
      <p:ext uri="{BB962C8B-B14F-4D97-AF65-F5344CB8AC3E}">
        <p14:creationId xmlns:p14="http://schemas.microsoft.com/office/powerpoint/2010/main" val="4070057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3F711-1BFA-5980-F540-0B138142CA35}"/>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CONTENT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ACF830-9DF6-A4E0-1FB5-EE040E4C6150}"/>
              </a:ext>
            </a:extLst>
          </p:cNvPr>
          <p:cNvSpPr>
            <a:spLocks noGrp="1"/>
          </p:cNvSpPr>
          <p:nvPr>
            <p:ph idx="1"/>
          </p:nvPr>
        </p:nvSpPr>
        <p:spPr>
          <a:xfrm>
            <a:off x="838200" y="1530657"/>
            <a:ext cx="10515600" cy="4351338"/>
          </a:xfrm>
        </p:spPr>
        <p:txBody>
          <a:bodyPr>
            <a:normAutofit fontScale="92500" lnSpcReduction="20000"/>
          </a:bodyPr>
          <a:lstStyle/>
          <a:p>
            <a:pPr>
              <a:lnSpc>
                <a:spcPct val="150000"/>
              </a:lnSpc>
            </a:pPr>
            <a:r>
              <a:rPr lang="en-US" sz="1600" dirty="0">
                <a:latin typeface="Times New Roman" panose="02020603050405020304" pitchFamily="18" charset="0"/>
                <a:cs typeface="Times New Roman" panose="02020603050405020304" pitchFamily="18" charset="0"/>
              </a:rPr>
              <a:t>ABSTRACT</a:t>
            </a:r>
          </a:p>
          <a:p>
            <a:pPr>
              <a:lnSpc>
                <a:spcPct val="150000"/>
              </a:lnSpc>
            </a:pPr>
            <a:r>
              <a:rPr lang="en-US" sz="1600" dirty="0">
                <a:latin typeface="Times New Roman" panose="02020603050405020304" pitchFamily="18" charset="0"/>
                <a:cs typeface="Times New Roman" panose="02020603050405020304" pitchFamily="18" charset="0"/>
              </a:rPr>
              <a:t>INTRODUCTION</a:t>
            </a:r>
          </a:p>
          <a:p>
            <a:pPr>
              <a:lnSpc>
                <a:spcPct val="150000"/>
              </a:lnSpc>
            </a:pPr>
            <a:r>
              <a:rPr lang="en-US" sz="1600" dirty="0">
                <a:latin typeface="Times New Roman" panose="02020603050405020304" pitchFamily="18" charset="0"/>
                <a:cs typeface="Times New Roman" panose="02020603050405020304" pitchFamily="18" charset="0"/>
              </a:rPr>
              <a:t>EXISTING SYSTEM</a:t>
            </a:r>
          </a:p>
          <a:p>
            <a:pPr>
              <a:lnSpc>
                <a:spcPct val="150000"/>
              </a:lnSpc>
            </a:pPr>
            <a:r>
              <a:rPr lang="en-US" sz="1600" dirty="0">
                <a:latin typeface="Times New Roman" panose="02020603050405020304" pitchFamily="18" charset="0"/>
                <a:cs typeface="Times New Roman" panose="02020603050405020304" pitchFamily="18" charset="0"/>
              </a:rPr>
              <a:t>DISADVANTAGES</a:t>
            </a:r>
          </a:p>
          <a:p>
            <a:pPr>
              <a:lnSpc>
                <a:spcPct val="150000"/>
              </a:lnSpc>
            </a:pPr>
            <a:r>
              <a:rPr lang="en-US" sz="1600" dirty="0">
                <a:latin typeface="Times New Roman" panose="02020603050405020304" pitchFamily="18" charset="0"/>
                <a:cs typeface="Times New Roman" panose="02020603050405020304" pitchFamily="18" charset="0"/>
              </a:rPr>
              <a:t>PROPOSED SYSTEM</a:t>
            </a:r>
          </a:p>
          <a:p>
            <a:pPr>
              <a:lnSpc>
                <a:spcPct val="150000"/>
              </a:lnSpc>
            </a:pPr>
            <a:r>
              <a:rPr lang="en-US" sz="1600" dirty="0">
                <a:latin typeface="Times New Roman" panose="02020603050405020304" pitchFamily="18" charset="0"/>
                <a:cs typeface="Times New Roman" panose="02020603050405020304" pitchFamily="18" charset="0"/>
              </a:rPr>
              <a:t>ADVANTAGES</a:t>
            </a:r>
          </a:p>
          <a:p>
            <a:pPr>
              <a:lnSpc>
                <a:spcPct val="150000"/>
              </a:lnSpc>
            </a:pPr>
            <a:r>
              <a:rPr lang="en-US" sz="1600" dirty="0">
                <a:latin typeface="Times New Roman" panose="02020603050405020304" pitchFamily="18" charset="0"/>
                <a:cs typeface="Times New Roman" panose="02020603050405020304" pitchFamily="18" charset="0"/>
              </a:rPr>
              <a:t>LITERATURE REVIEW</a:t>
            </a:r>
          </a:p>
          <a:p>
            <a:pPr>
              <a:lnSpc>
                <a:spcPct val="150000"/>
              </a:lnSpc>
            </a:pPr>
            <a:r>
              <a:rPr lang="en-US" sz="1600" dirty="0">
                <a:latin typeface="Times New Roman" panose="02020603050405020304" pitchFamily="18" charset="0"/>
                <a:cs typeface="Times New Roman" panose="02020603050405020304" pitchFamily="18" charset="0"/>
              </a:rPr>
              <a:t>SYSTEM REQUIREMENTS</a:t>
            </a:r>
          </a:p>
          <a:p>
            <a:pPr>
              <a:lnSpc>
                <a:spcPct val="150000"/>
              </a:lnSpc>
            </a:pPr>
            <a:r>
              <a:rPr lang="en-US" sz="1600" dirty="0">
                <a:latin typeface="Times New Roman" panose="02020603050405020304" pitchFamily="18" charset="0"/>
                <a:cs typeface="Times New Roman" panose="02020603050405020304" pitchFamily="18" charset="0"/>
              </a:rPr>
              <a:t>RESULTS</a:t>
            </a:r>
          </a:p>
          <a:p>
            <a:pPr>
              <a:lnSpc>
                <a:spcPct val="150000"/>
              </a:lnSpc>
            </a:pPr>
            <a:r>
              <a:rPr lang="en-US" sz="1600" dirty="0">
                <a:latin typeface="Times New Roman" panose="02020603050405020304" pitchFamily="18" charset="0"/>
                <a:cs typeface="Times New Roman" panose="02020603050405020304" pitchFamily="18" charset="0"/>
              </a:rPr>
              <a:t>CONCLUSION</a:t>
            </a:r>
          </a:p>
          <a:p>
            <a:pPr marL="0" indent="0">
              <a:lnSpc>
                <a:spcPct val="150000"/>
              </a:lnSpc>
              <a:buNone/>
            </a:pPr>
            <a:endParaRPr lang="en-US" sz="1600" dirty="0">
              <a:latin typeface="Times New Roman" panose="02020603050405020304" pitchFamily="18" charset="0"/>
              <a:cs typeface="Times New Roman" panose="02020603050405020304" pitchFamily="18" charset="0"/>
            </a:endParaRPr>
          </a:p>
          <a:p>
            <a:pPr>
              <a:lnSpc>
                <a:spcPct val="150000"/>
              </a:lnSpc>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9361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83442-2422-EC48-97B3-18ABAD7A878F}"/>
              </a:ext>
            </a:extLst>
          </p:cNvPr>
          <p:cNvSpPr>
            <a:spLocks noGrp="1"/>
          </p:cNvSpPr>
          <p:nvPr>
            <p:ph type="title"/>
          </p:nvPr>
        </p:nvSpPr>
        <p:spPr>
          <a:xfrm>
            <a:off x="838200" y="18255"/>
            <a:ext cx="10515600" cy="1325563"/>
          </a:xfrm>
        </p:spPr>
        <p:txBody>
          <a:bodyPr/>
          <a:lstStyle/>
          <a:p>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765463" y="1154223"/>
            <a:ext cx="11013582" cy="4890057"/>
          </a:xfrm>
          <a:prstGeom prst="rect">
            <a:avLst/>
          </a:prstGeom>
        </p:spPr>
        <p:txBody>
          <a:bodyPr wrap="square">
            <a:spAutoFit/>
          </a:bodyPr>
          <a:lstStyle/>
          <a:p>
            <a:pPr algn="just"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At present social network sites are part of the life for most of the people. Every day several people are creating their profiles on the social network platforms and they are interacting with others independent of the user’s location and time. The social network sites not only providing advantages to the users and also provide security issues to the users as well their information. To analyze, who are encouraging threats in social network we need to classify the social networks profiles of the users. From the classification, we can get the genuine profiles and fake profiles on the social networks. Traditionally, we have different classification methods for detecting the fake profiles on the social networks. But, we need to improve the accuracy rate of the   fake profile detection in the social networks. In this paper we are proposing Machine learning and Natural language Processing (NLP) techniques to improve the accuracy rate of the fake profiles detection.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Key words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Fake Profile Detection, Social Networks, Machine Learning, Natural Language Processing (NLP), Support Vector Machine (SVM),Naive bayes</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4350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8FC1F-A2DF-77DD-86D5-3CB2105D9B05}"/>
              </a:ext>
            </a:extLst>
          </p:cNvPr>
          <p:cNvSpPr>
            <a:spLocks noGrp="1"/>
          </p:cNvSpPr>
          <p:nvPr>
            <p:ph type="title"/>
          </p:nvPr>
        </p:nvSpPr>
        <p:spPr>
          <a:xfrm>
            <a:off x="907026" y="373626"/>
            <a:ext cx="10515600" cy="1325563"/>
          </a:xfrm>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9BAC61-684A-B650-94EF-B3BC1CAC599B}"/>
              </a:ext>
            </a:extLst>
          </p:cNvPr>
          <p:cNvSpPr>
            <a:spLocks noGrp="1"/>
          </p:cNvSpPr>
          <p:nvPr>
            <p:ph idx="1"/>
          </p:nvPr>
        </p:nvSpPr>
        <p:spPr>
          <a:xfrm>
            <a:off x="907026" y="1607525"/>
            <a:ext cx="10515600" cy="4351338"/>
          </a:xfrm>
        </p:spPr>
        <p:txBody>
          <a:bodyPr>
            <a:noAutofit/>
          </a:bodyPr>
          <a:lstStyle/>
          <a:p>
            <a:pPr marL="0" indent="0" algn="just">
              <a:lnSpc>
                <a:spcPct val="120000"/>
              </a:lnSpc>
              <a:buNone/>
            </a:pPr>
            <a:r>
              <a:rPr lang="en-US" altLang="en-US" sz="2200" dirty="0">
                <a:latin typeface="Times New Roman" panose="02020603050405020304" pitchFamily="18" charset="0"/>
                <a:cs typeface="Times New Roman" panose="02020603050405020304" pitchFamily="18" charset="0"/>
              </a:rPr>
              <a:t>Social networking has end up a well-known recreation within the web at present, attracting hundreds of thousands of users, spending billions of minutes on such services. Online Social network (OSN) services variety from social interactions-based platforms similar to Face book or </a:t>
            </a:r>
            <a:r>
              <a:rPr lang="en-US" altLang="en-US" sz="2200" dirty="0" err="1">
                <a:latin typeface="Times New Roman" panose="02020603050405020304" pitchFamily="18" charset="0"/>
                <a:cs typeface="Times New Roman" panose="02020603050405020304" pitchFamily="18" charset="0"/>
              </a:rPr>
              <a:t>MySpace</a:t>
            </a:r>
            <a:r>
              <a:rPr lang="en-US" altLang="en-US" sz="2200" dirty="0">
                <a:latin typeface="Times New Roman" panose="02020603050405020304" pitchFamily="18" charset="0"/>
                <a:cs typeface="Times New Roman" panose="02020603050405020304" pitchFamily="18" charset="0"/>
              </a:rPr>
              <a:t>, to understanding dissemination-centric platforms reminiscent of twitter or Google Buzz, to Social interaction characteristic brought to present systems such as Flicker. The opposite hand, enhancing security concerns and protecting the OSN privateness still signify a most important bottleneck and viewed mission.</a:t>
            </a:r>
          </a:p>
          <a:p>
            <a:pPr marL="0" indent="0" algn="just">
              <a:lnSpc>
                <a:spcPct val="12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161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A1A9-2830-23BE-6FA9-3A357C094643}"/>
              </a:ext>
            </a:extLst>
          </p:cNvPr>
          <p:cNvSpPr>
            <a:spLocks noGrp="1"/>
          </p:cNvSpPr>
          <p:nvPr>
            <p:ph type="ctrTitle"/>
          </p:nvPr>
        </p:nvSpPr>
        <p:spPr>
          <a:xfrm>
            <a:off x="688258" y="510305"/>
            <a:ext cx="9379976" cy="804760"/>
          </a:xfrm>
        </p:spPr>
        <p:txBody>
          <a:bodyPr>
            <a:normAutofit/>
          </a:bodyPr>
          <a:lstStyle/>
          <a:p>
            <a:pPr algn="l"/>
            <a:r>
              <a:rPr lang="en-IN" sz="4400" b="1" dirty="0">
                <a:latin typeface="Times New Roman" panose="02020603050405020304" pitchFamily="18" charset="0"/>
                <a:cs typeface="Times New Roman" panose="02020603050405020304" pitchFamily="18" charset="0"/>
              </a:rPr>
              <a:t>EXISTING SYSTEM</a:t>
            </a:r>
          </a:p>
        </p:txBody>
      </p:sp>
      <p:sp>
        <p:nvSpPr>
          <p:cNvPr id="3" name="Subtitle 2">
            <a:extLst>
              <a:ext uri="{FF2B5EF4-FFF2-40B4-BE49-F238E27FC236}">
                <a16:creationId xmlns:a16="http://schemas.microsoft.com/office/drawing/2014/main" id="{4454089E-DFB8-3889-F1B9-CEBEDC2A097A}"/>
              </a:ext>
            </a:extLst>
          </p:cNvPr>
          <p:cNvSpPr>
            <a:spLocks noGrp="1"/>
          </p:cNvSpPr>
          <p:nvPr>
            <p:ph type="subTitle" idx="1"/>
          </p:nvPr>
        </p:nvSpPr>
        <p:spPr>
          <a:xfrm>
            <a:off x="688258" y="1396182"/>
            <a:ext cx="10864645" cy="344128"/>
          </a:xfrm>
        </p:spPr>
        <p:txBody>
          <a:bodyPr>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Current fake profile detection systems mainly use rule-based techniques and basic machine learning models, which rely on straightforward features like the number of friends or followers, how often a user posts, and how old the account is. These features are easy to collect but often fail to capture deeper, more complex behaviors. In some systems, network topology analysis is also used—this means studying how accounts are connected to each other. For example, fake profiles often show patterns like being linked to many random users or forming tight groups of interconnected fake accounts. While this adds some depth, it still has limits. A major issue with these systems is that they are mostly reactive—they respond after fake profiles become active. Because they rely on fixed rules and patterns, they struggle to adapt when attackers change their tactics. This makes it easier for new or smarter fake profiles to avoid detection. As a result, these systems often miss real threats or wrongly flag genuine users (false positives), highlighting the need for smarter, more flexible detection method.</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517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F4050-011C-7284-084F-781226065C8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PROBLEMS</a:t>
            </a:r>
          </a:p>
        </p:txBody>
      </p:sp>
      <p:sp>
        <p:nvSpPr>
          <p:cNvPr id="3" name="Content Placeholder 2">
            <a:extLst>
              <a:ext uri="{FF2B5EF4-FFF2-40B4-BE49-F238E27FC236}">
                <a16:creationId xmlns:a16="http://schemas.microsoft.com/office/drawing/2014/main" id="{2FB807B8-917E-3C31-30AF-B649C7753893}"/>
              </a:ext>
            </a:extLst>
          </p:cNvPr>
          <p:cNvSpPr>
            <a:spLocks noGrp="1"/>
          </p:cNvSpPr>
          <p:nvPr>
            <p:ph idx="1"/>
          </p:nvPr>
        </p:nvSpPr>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They have low accuracy and often misclassify real users as fake (false positives).</a:t>
            </a:r>
          </a:p>
          <a:p>
            <a:pPr>
              <a:lnSpc>
                <a:spcPct val="150000"/>
              </a:lnSpc>
            </a:pPr>
            <a:r>
              <a:rPr lang="en-US" sz="2200" dirty="0">
                <a:latin typeface="Times New Roman" panose="02020603050405020304" pitchFamily="18" charset="0"/>
                <a:cs typeface="Times New Roman" panose="02020603050405020304" pitchFamily="18" charset="0"/>
              </a:rPr>
              <a:t>Attackers can easily adapt their behavior to avoid </a:t>
            </a:r>
            <a:r>
              <a:rPr lang="en-US" sz="2200">
                <a:latin typeface="Times New Roman" panose="02020603050405020304" pitchFamily="18" charset="0"/>
                <a:cs typeface="Times New Roman" panose="02020603050405020304" pitchFamily="18" charset="0"/>
              </a:rPr>
              <a:t>detection.</a:t>
            </a:r>
            <a:endParaRPr lang="en-US" sz="2200" dirty="0">
              <a:latin typeface="Times New Roman" panose="02020603050405020304" pitchFamily="18" charset="0"/>
              <a:cs typeface="Times New Roman" panose="02020603050405020304" pitchFamily="18" charset="0"/>
            </a:endParaRPr>
          </a:p>
          <a:p>
            <a:pPr>
              <a:lnSpc>
                <a:spcPct val="150000"/>
              </a:lnSpc>
            </a:pPr>
            <a:r>
              <a:rPr lang="en-US" sz="2200">
                <a:latin typeface="Times New Roman" panose="02020603050405020304" pitchFamily="18" charset="0"/>
                <a:cs typeface="Times New Roman" panose="02020603050405020304" pitchFamily="18" charset="0"/>
              </a:rPr>
              <a:t>They </a:t>
            </a:r>
            <a:r>
              <a:rPr lang="en-US" sz="2200" dirty="0">
                <a:latin typeface="Times New Roman" panose="02020603050405020304" pitchFamily="18" charset="0"/>
                <a:cs typeface="Times New Roman" panose="02020603050405020304" pitchFamily="18" charset="0"/>
              </a:rPr>
              <a:t>lack deep analysis of user content or behavior context.</a:t>
            </a:r>
          </a:p>
          <a:p>
            <a:pPr>
              <a:lnSpc>
                <a:spcPct val="150000"/>
              </a:lnSpc>
            </a:pPr>
            <a:r>
              <a:rPr lang="en-US" sz="2200" dirty="0">
                <a:latin typeface="Times New Roman" panose="02020603050405020304" pitchFamily="18" charset="0"/>
                <a:cs typeface="Times New Roman" panose="02020603050405020304" pitchFamily="18" charset="0"/>
              </a:rPr>
              <a:t>Manual reviews are time-consuming and not scalable for large networks.</a:t>
            </a:r>
          </a:p>
          <a:p>
            <a:pPr>
              <a:lnSpc>
                <a:spcPct val="150000"/>
              </a:lnSpc>
            </a:pPr>
            <a:r>
              <a:rPr lang="en-US" sz="2200" dirty="0">
                <a:latin typeface="Times New Roman" panose="02020603050405020304" pitchFamily="18" charset="0"/>
                <a:cs typeface="Times New Roman" panose="02020603050405020304" pitchFamily="18" charset="0"/>
              </a:rPr>
              <a:t>Most models are not adaptive to new or evolving fake profile strategies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977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4F92-2179-7ACA-49E5-E60498DF835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41D3E154-2B71-16EC-5C04-D4AE3A05F844}"/>
              </a:ext>
            </a:extLst>
          </p:cNvPr>
          <p:cNvSpPr>
            <a:spLocks noGrp="1"/>
          </p:cNvSpPr>
          <p:nvPr>
            <p:ph idx="1"/>
          </p:nvPr>
        </p:nvSpPr>
        <p:spPr>
          <a:xfrm>
            <a:off x="838200" y="1481495"/>
            <a:ext cx="10515600" cy="4811149"/>
          </a:xfrm>
        </p:spPr>
        <p:txBody>
          <a:bodyPr>
            <a:normAutofit lnSpcReduction="10000"/>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The proposed system uses a combination of Support Vector Machine (SVM) and Naive Bayes algorithms to improve accuracy and reliability. It begins by collecting user profile data such as account age, friend count, posting behavior, profile completeness, and username patterns. From this data, important features are extracted and used for classification. Naive Bayes is applied to handle textual and categorical data efficiently, while SVM is used for detecting more complex patterns based on numerical features. The results from both models are combined using a hybrid approach, such as weighted voting, to make the final decision. This system leverages the simplicity and speed of Naive Bayes along with the high precision of SVM, offering better detection of fake profiles by capturing both obvious and subtle indicators of suspicious behavior.</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459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78A86-287D-5DD0-49AB-CC486DF2283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903C7254-842B-A066-8D9E-E3745BF57FB3}"/>
              </a:ext>
            </a:extLst>
          </p:cNvPr>
          <p:cNvSpPr>
            <a:spLocks noGrp="1"/>
          </p:cNvSpPr>
          <p:nvPr>
            <p:ph idx="1"/>
          </p:nvPr>
        </p:nvSpPr>
        <p:spPr/>
        <p:txBody>
          <a:bodyPr>
            <a:normAutofit/>
          </a:bodyPr>
          <a:lstStyle/>
          <a:p>
            <a:pPr>
              <a:lnSpc>
                <a:spcPct val="150000"/>
              </a:lnSpc>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proposed system, Profile information in online networks will also be static or dynamic. The details which can be supplied with the aid of the person on the time of profile creation is known as static knowledge, the place as the small print that are recounted with the aid of the system within the network is called dynamic knowledge.</a:t>
            </a:r>
          </a:p>
          <a:p>
            <a:pPr>
              <a:lnSpc>
                <a:spcPct val="150000"/>
              </a:lnSpc>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proposed system, Social Networking offerings have facilitated identity theft and Impersonation attacks for serious as good as naïve attackers</a:t>
            </a:r>
            <a:endParaRPr lang="en-IN" sz="2200" dirty="0"/>
          </a:p>
        </p:txBody>
      </p:sp>
    </p:spTree>
    <p:extLst>
      <p:ext uri="{BB962C8B-B14F-4D97-AF65-F5344CB8AC3E}">
        <p14:creationId xmlns:p14="http://schemas.microsoft.com/office/powerpoint/2010/main" val="1243563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2F9C-6A78-791B-6EE2-703BDF79A2ED}"/>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LITERATURE REVIEW</a:t>
            </a:r>
            <a:endParaRPr lang="en-IN" b="1" dirty="0"/>
          </a:p>
        </p:txBody>
      </p:sp>
      <p:sp>
        <p:nvSpPr>
          <p:cNvPr id="3" name="Content Placeholder 2">
            <a:extLst>
              <a:ext uri="{FF2B5EF4-FFF2-40B4-BE49-F238E27FC236}">
                <a16:creationId xmlns:a16="http://schemas.microsoft.com/office/drawing/2014/main" id="{701E1403-1DA3-3E8D-8708-D33AB8208FC9}"/>
              </a:ext>
            </a:extLst>
          </p:cNvPr>
          <p:cNvSpPr>
            <a:spLocks noGrp="1"/>
          </p:cNvSpPr>
          <p:nvPr>
            <p:ph idx="1"/>
          </p:nvPr>
        </p:nvSpPr>
        <p:spPr/>
        <p:txBody>
          <a:bodyPr>
            <a:normAutofit/>
          </a:bodyPr>
          <a:lstStyle/>
          <a:p>
            <a:pPr marL="637200" indent="-457200">
              <a:lnSpc>
                <a:spcPct val="100000"/>
              </a:lnSpc>
              <a:buFont typeface="+mj-lt"/>
              <a:buAutoNum type="arabicPeriod"/>
            </a:pPr>
            <a:r>
              <a:rPr lang="en-IN" sz="2200" b="1" dirty="0">
                <a:latin typeface="Times New Roman" panose="02020603050405020304" pitchFamily="18" charset="0"/>
                <a:cs typeface="Times New Roman" panose="02020603050405020304" pitchFamily="18" charset="0"/>
              </a:rPr>
              <a:t>Research Paper - 1</a:t>
            </a:r>
          </a:p>
          <a:p>
            <a:pPr marL="980100" lvl="1" indent="-342900">
              <a:lnSpc>
                <a:spcPct val="100000"/>
              </a:lnSpc>
            </a:pPr>
            <a:r>
              <a:rPr lang="en-IN" sz="2200" b="1" dirty="0">
                <a:latin typeface="Times New Roman" panose="02020603050405020304" pitchFamily="18" charset="0"/>
                <a:cs typeface="Times New Roman" panose="02020603050405020304" pitchFamily="18" charset="0"/>
              </a:rPr>
              <a:t>Title:</a:t>
            </a:r>
            <a:r>
              <a:rPr lang="en-US" sz="2200" dirty="0">
                <a:latin typeface="Times New Roman" panose="02020603050405020304" pitchFamily="18" charset="0"/>
                <a:cs typeface="Times New Roman" panose="02020603050405020304" pitchFamily="18" charset="0"/>
              </a:rPr>
              <a:t>Strangers intrusion detection-detecting spammers and fake profiles in social networks based on topology anomalies</a:t>
            </a:r>
            <a:r>
              <a:rPr lang="en-US" sz="2200" b="1"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p>
            <a:pPr marL="980100" lvl="1" indent="-342900">
              <a:lnSpc>
                <a:spcPct val="100000"/>
              </a:lnSpc>
            </a:pPr>
            <a:r>
              <a:rPr lang="en-IN" sz="2200" b="1" dirty="0">
                <a:latin typeface="Times New Roman" panose="02020603050405020304" pitchFamily="18" charset="0"/>
                <a:cs typeface="Times New Roman" panose="02020603050405020304" pitchFamily="18" charset="0"/>
              </a:rPr>
              <a:t>Authors:</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Michael Fire </a:t>
            </a:r>
            <a:r>
              <a:rPr lang="en-IN" sz="2200" b="0" i="0" dirty="0">
                <a:solidFill>
                  <a:srgbClr val="EEF0FF"/>
                </a:solidFill>
                <a:effectLst/>
                <a:latin typeface="Times New Roman" panose="02020603050405020304" pitchFamily="18" charset="0"/>
                <a:cs typeface="Times New Roman" panose="02020603050405020304" pitchFamily="18" charset="0"/>
              </a:rPr>
              <a:t>. </a:t>
            </a:r>
            <a:endParaRPr lang="en-IN" sz="2200" b="1" dirty="0">
              <a:latin typeface="Times New Roman" panose="02020603050405020304" pitchFamily="18" charset="0"/>
              <a:cs typeface="Times New Roman" panose="02020603050405020304" pitchFamily="18" charset="0"/>
            </a:endParaRPr>
          </a:p>
          <a:p>
            <a:pPr marL="980100" lvl="1" indent="-342900">
              <a:lnSpc>
                <a:spcPct val="100000"/>
              </a:lnSpc>
            </a:pPr>
            <a:r>
              <a:rPr lang="en-IN" sz="2200" b="1" dirty="0" err="1">
                <a:latin typeface="Times New Roman" panose="02020603050405020304" pitchFamily="18" charset="0"/>
                <a:cs typeface="Times New Roman" panose="02020603050405020304" pitchFamily="18" charset="0"/>
              </a:rPr>
              <a:t>Date</a:t>
            </a:r>
            <a:r>
              <a:rPr lang="en-IN" sz="2200" dirty="0" err="1">
                <a:latin typeface="Times New Roman" panose="02020603050405020304" pitchFamily="18" charset="0"/>
                <a:cs typeface="Times New Roman" panose="02020603050405020304" pitchFamily="18" charset="0"/>
              </a:rPr>
              <a:t>:January</a:t>
            </a:r>
            <a:r>
              <a:rPr lang="en-IN" sz="2200" dirty="0">
                <a:latin typeface="Times New Roman" panose="02020603050405020304" pitchFamily="18" charset="0"/>
                <a:cs typeface="Times New Roman" panose="02020603050405020304" pitchFamily="18" charset="0"/>
              </a:rPr>
              <a:t> 2012.</a:t>
            </a:r>
          </a:p>
          <a:p>
            <a:pPr marL="980100" lvl="1" indent="-342900" eaLnBrk="0" fontAlgn="base" hangingPunct="0">
              <a:lnSpc>
                <a:spcPct val="100000"/>
              </a:lnSpc>
              <a:spcBef>
                <a:spcPct val="0"/>
              </a:spcBef>
              <a:spcAft>
                <a:spcPct val="0"/>
              </a:spcAft>
            </a:pPr>
            <a:r>
              <a:rPr lang="en-IN" sz="2200" b="1" dirty="0">
                <a:latin typeface="Times New Roman" panose="02020603050405020304" pitchFamily="18" charset="0"/>
                <a:cs typeface="Times New Roman" panose="02020603050405020304" pitchFamily="18" charset="0"/>
              </a:rPr>
              <a:t>Explanation: </a:t>
            </a:r>
            <a:r>
              <a:rPr lang="en-US" sz="2200" dirty="0">
                <a:latin typeface="Times New Roman" panose="02020603050405020304" pitchFamily="18" charset="0"/>
                <a:cs typeface="Times New Roman" panose="02020603050405020304" pitchFamily="18" charset="0"/>
              </a:rPr>
              <a:t>The SID (Strangers Intrusion Detection) project detects fake profiles and spammers in social networks by analyzing how users are </a:t>
            </a:r>
            <a:r>
              <a:rPr lang="en-US" sz="2200" dirty="0" err="1">
                <a:latin typeface="Times New Roman" panose="02020603050405020304" pitchFamily="18" charset="0"/>
                <a:cs typeface="Times New Roman" panose="02020603050405020304" pitchFamily="18" charset="0"/>
              </a:rPr>
              <a:t>connected.Fake</a:t>
            </a:r>
            <a:r>
              <a:rPr lang="en-US" sz="2200" dirty="0">
                <a:latin typeface="Times New Roman" panose="02020603050405020304" pitchFamily="18" charset="0"/>
                <a:cs typeface="Times New Roman" panose="02020603050405020304" pitchFamily="18" charset="0"/>
              </a:rPr>
              <a:t> users often show unusual connection patterns, like linking across many unrelated </a:t>
            </a:r>
            <a:r>
              <a:rPr lang="en-US" sz="2200" dirty="0" err="1">
                <a:latin typeface="Times New Roman" panose="02020603050405020304" pitchFamily="18" charset="0"/>
                <a:cs typeface="Times New Roman" panose="02020603050405020304" pitchFamily="18" charset="0"/>
              </a:rPr>
              <a:t>communities.The</a:t>
            </a:r>
            <a:r>
              <a:rPr lang="en-US" sz="2200" dirty="0">
                <a:latin typeface="Times New Roman" panose="02020603050405020304" pitchFamily="18" charset="0"/>
                <a:cs typeface="Times New Roman" panose="02020603050405020304" pitchFamily="18" charset="0"/>
              </a:rPr>
              <a:t> system looks for these network anomalies to identify suspicious </a:t>
            </a:r>
            <a:r>
              <a:rPr lang="en-US" sz="2200" dirty="0" err="1">
                <a:latin typeface="Times New Roman" panose="02020603050405020304" pitchFamily="18" charset="0"/>
                <a:cs typeface="Times New Roman" panose="02020603050405020304" pitchFamily="18" charset="0"/>
              </a:rPr>
              <a:t>behavior.It</a:t>
            </a:r>
            <a:r>
              <a:rPr lang="en-US" sz="2200" dirty="0">
                <a:latin typeface="Times New Roman" panose="02020603050405020304" pitchFamily="18" charset="0"/>
                <a:cs typeface="Times New Roman" panose="02020603050405020304" pitchFamily="18" charset="0"/>
              </a:rPr>
              <a:t> uses only the structure of the network, not personal data or messages</a:t>
            </a:r>
          </a:p>
        </p:txBody>
      </p:sp>
    </p:spTree>
    <p:extLst>
      <p:ext uri="{BB962C8B-B14F-4D97-AF65-F5344CB8AC3E}">
        <p14:creationId xmlns:p14="http://schemas.microsoft.com/office/powerpoint/2010/main" val="3202380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26C28-3F9D-FB01-3D7E-9B0A64F76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32EDE-CBDF-064E-860D-16A4C69BF2C1}"/>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LITERATURE REVIEW</a:t>
            </a:r>
            <a:endParaRPr lang="en-IN" b="1" dirty="0"/>
          </a:p>
        </p:txBody>
      </p:sp>
      <p:sp>
        <p:nvSpPr>
          <p:cNvPr id="3" name="Content Placeholder 2">
            <a:extLst>
              <a:ext uri="{FF2B5EF4-FFF2-40B4-BE49-F238E27FC236}">
                <a16:creationId xmlns:a16="http://schemas.microsoft.com/office/drawing/2014/main" id="{700F03E7-F730-0910-D822-6AC81DF66052}"/>
              </a:ext>
            </a:extLst>
          </p:cNvPr>
          <p:cNvSpPr>
            <a:spLocks noGrp="1"/>
          </p:cNvSpPr>
          <p:nvPr>
            <p:ph idx="1"/>
          </p:nvPr>
        </p:nvSpPr>
        <p:spPr>
          <a:xfrm>
            <a:off x="838200" y="1520824"/>
            <a:ext cx="10642600" cy="4482811"/>
          </a:xfrm>
        </p:spPr>
        <p:txBody>
          <a:bodyPr>
            <a:normAutofit/>
          </a:bodyPr>
          <a:lstStyle/>
          <a:p>
            <a:pPr marL="180000" indent="0">
              <a:lnSpc>
                <a:spcPct val="100000"/>
              </a:lnSpc>
              <a:buNone/>
            </a:pPr>
            <a:r>
              <a:rPr lang="en-IN" sz="2200" b="1" dirty="0">
                <a:latin typeface="Times New Roman" panose="02020603050405020304" pitchFamily="18" charset="0"/>
                <a:cs typeface="Times New Roman" panose="02020603050405020304" pitchFamily="18" charset="0"/>
              </a:rPr>
              <a:t>2.   Research Paper - 2</a:t>
            </a:r>
          </a:p>
          <a:p>
            <a:pPr marL="980100" lvl="1" indent="-342900">
              <a:lnSpc>
                <a:spcPct val="100000"/>
              </a:lnSpc>
            </a:pPr>
            <a:r>
              <a:rPr lang="en-IN" sz="2200" b="1" dirty="0">
                <a:latin typeface="Times New Roman" panose="02020603050405020304" pitchFamily="18" charset="0"/>
                <a:cs typeface="Times New Roman" panose="02020603050405020304" pitchFamily="18" charset="0"/>
              </a:rPr>
              <a:t>Title:</a:t>
            </a:r>
            <a:r>
              <a:rPr lang="en-US" sz="2200" dirty="0">
                <a:latin typeface="Times New Roman" panose="02020603050405020304" pitchFamily="18" charset="0"/>
                <a:cs typeface="Times New Roman" panose="02020603050405020304" pitchFamily="18" charset="0"/>
              </a:rPr>
              <a:t>Identifying Fake Profiles in LinkedIn</a:t>
            </a:r>
            <a:endParaRPr lang="en-IN" sz="2200" b="1" dirty="0">
              <a:latin typeface="Times New Roman" panose="02020603050405020304" pitchFamily="18" charset="0"/>
              <a:cs typeface="Times New Roman" panose="02020603050405020304" pitchFamily="18" charset="0"/>
            </a:endParaRPr>
          </a:p>
          <a:p>
            <a:pPr marL="980100" lvl="1" indent="-342900">
              <a:lnSpc>
                <a:spcPct val="100000"/>
              </a:lnSpc>
            </a:pPr>
            <a:r>
              <a:rPr lang="en-IN" sz="2200" b="1" dirty="0" err="1">
                <a:latin typeface="Times New Roman" panose="02020603050405020304" pitchFamily="18" charset="0"/>
                <a:cs typeface="Times New Roman" panose="02020603050405020304" pitchFamily="18" charset="0"/>
              </a:rPr>
              <a:t>Authors:</a:t>
            </a:r>
            <a:r>
              <a:rPr lang="en-IN" sz="2200" dirty="0" err="1">
                <a:latin typeface="Times New Roman" panose="02020603050405020304" pitchFamily="18" charset="0"/>
                <a:cs typeface="Times New Roman" panose="02020603050405020304" pitchFamily="18" charset="0"/>
              </a:rPr>
              <a:t>Shalinda</a:t>
            </a:r>
            <a:r>
              <a:rPr lang="en-IN" sz="2200" dirty="0">
                <a:latin typeface="Times New Roman" panose="02020603050405020304" pitchFamily="18" charset="0"/>
                <a:cs typeface="Times New Roman" panose="02020603050405020304" pitchFamily="18" charset="0"/>
              </a:rPr>
              <a:t> Adikari and Kaushik Dutta</a:t>
            </a:r>
            <a:endParaRPr lang="en-IN" sz="2200" b="1" dirty="0">
              <a:latin typeface="Times New Roman" panose="02020603050405020304" pitchFamily="18" charset="0"/>
              <a:cs typeface="Times New Roman" panose="02020603050405020304" pitchFamily="18" charset="0"/>
            </a:endParaRPr>
          </a:p>
          <a:p>
            <a:pPr marL="980100" lvl="1" indent="-342900">
              <a:lnSpc>
                <a:spcPct val="100000"/>
              </a:lnSpc>
            </a:pPr>
            <a:r>
              <a:rPr lang="en-IN" sz="2200" b="1" dirty="0" err="1">
                <a:latin typeface="Times New Roman" panose="02020603050405020304" pitchFamily="18" charset="0"/>
                <a:cs typeface="Times New Roman" panose="02020603050405020304" pitchFamily="18" charset="0"/>
              </a:rPr>
              <a:t>Published:</a:t>
            </a:r>
            <a:r>
              <a:rPr lang="en-IN" sz="2200" dirty="0" err="1">
                <a:latin typeface="Times New Roman" panose="02020603050405020304" pitchFamily="18" charset="0"/>
                <a:cs typeface="Times New Roman" panose="02020603050405020304" pitchFamily="18" charset="0"/>
              </a:rPr>
              <a:t>Pacific</a:t>
            </a:r>
            <a:r>
              <a:rPr lang="en-IN" sz="2200" dirty="0">
                <a:latin typeface="Times New Roman" panose="02020603050405020304" pitchFamily="18" charset="0"/>
                <a:cs typeface="Times New Roman" panose="02020603050405020304" pitchFamily="18" charset="0"/>
              </a:rPr>
              <a:t> Asia Conference on Information Systems (PACIS) 2014</a:t>
            </a:r>
            <a:endParaRPr lang="en-IN" sz="2200" b="1" dirty="0">
              <a:latin typeface="Times New Roman" panose="02020603050405020304" pitchFamily="18" charset="0"/>
              <a:cs typeface="Times New Roman" panose="02020603050405020304" pitchFamily="18" charset="0"/>
            </a:endParaRPr>
          </a:p>
          <a:p>
            <a:pPr marL="980100" lvl="1" indent="-342900">
              <a:lnSpc>
                <a:spcPct val="100000"/>
              </a:lnSpc>
            </a:pPr>
            <a:r>
              <a:rPr lang="en-IN" sz="2200" b="1" dirty="0">
                <a:latin typeface="Times New Roman" panose="02020603050405020304" pitchFamily="18" charset="0"/>
                <a:cs typeface="Times New Roman" panose="02020603050405020304" pitchFamily="18" charset="0"/>
              </a:rPr>
              <a:t> Explanation:</a:t>
            </a:r>
            <a:r>
              <a:rPr lang="en-US" sz="2200" dirty="0">
                <a:latin typeface="Times New Roman" panose="02020603050405020304" pitchFamily="18" charset="0"/>
                <a:cs typeface="Times New Roman" panose="02020603050405020304" pitchFamily="18" charset="0"/>
              </a:rPr>
              <a:t>The paper addresses the challenge of detecting fake profiles on LinkedIn, a professional networking platform. It proposes a methodology that utilizes publicly available profile data to identify inconsistencies indicative of fake accounts. The authors employ data mining techniques to analyze profile attributes such as job titles, company names, and connections. The approach aims to enhance the trustworthiness of LinkedIn by automating the detection of fraudulent profiles. This research contributes to the field by providing a scalable solution to a prevalent issue in online professional networks.</a:t>
            </a:r>
          </a:p>
        </p:txBody>
      </p:sp>
    </p:spTree>
    <p:extLst>
      <p:ext uri="{BB962C8B-B14F-4D97-AF65-F5344CB8AC3E}">
        <p14:creationId xmlns:p14="http://schemas.microsoft.com/office/powerpoint/2010/main" val="3212103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F8BEC-F1E4-0867-80C4-087119C076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23BDF-C1FB-04DA-C7A6-5CAACD758211}"/>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LITERATURE REVIEW</a:t>
            </a:r>
            <a:endParaRPr lang="en-IN" b="1" dirty="0"/>
          </a:p>
        </p:txBody>
      </p:sp>
      <p:sp>
        <p:nvSpPr>
          <p:cNvPr id="3" name="Content Placeholder 2">
            <a:extLst>
              <a:ext uri="{FF2B5EF4-FFF2-40B4-BE49-F238E27FC236}">
                <a16:creationId xmlns:a16="http://schemas.microsoft.com/office/drawing/2014/main" id="{D539F5F2-CC6F-C84C-C406-D522D94BE6F1}"/>
              </a:ext>
            </a:extLst>
          </p:cNvPr>
          <p:cNvSpPr>
            <a:spLocks noGrp="1"/>
          </p:cNvSpPr>
          <p:nvPr>
            <p:ph idx="1"/>
          </p:nvPr>
        </p:nvSpPr>
        <p:spPr>
          <a:xfrm>
            <a:off x="521110" y="1425677"/>
            <a:ext cx="10832690" cy="4751286"/>
          </a:xfrm>
        </p:spPr>
        <p:txBody>
          <a:bodyPr>
            <a:normAutofit lnSpcReduction="10000"/>
          </a:bodyPr>
          <a:lstStyle/>
          <a:p>
            <a:pPr marL="180000" indent="0">
              <a:lnSpc>
                <a:spcPct val="100000"/>
              </a:lnSpc>
              <a:buNone/>
            </a:pPr>
            <a:r>
              <a:rPr lang="en-US" sz="2200" b="1" dirty="0">
                <a:latin typeface="Times New Roman" panose="02020603050405020304" pitchFamily="18" charset="0"/>
                <a:cs typeface="Times New Roman" panose="02020603050405020304" pitchFamily="18" charset="0"/>
              </a:rPr>
              <a:t>3.  Research paper -3</a:t>
            </a:r>
          </a:p>
          <a:p>
            <a:pPr marL="522900" indent="-342900">
              <a:lnSpc>
                <a:spcPct val="100000"/>
              </a:lnSpc>
            </a:pPr>
            <a:r>
              <a:rPr lang="en-US" sz="2200" b="1" dirty="0">
                <a:latin typeface="Times New Roman" panose="02020603050405020304" pitchFamily="18" charset="0"/>
                <a:cs typeface="Times New Roman" panose="02020603050405020304" pitchFamily="18" charset="0"/>
              </a:rPr>
              <a:t>Title:</a:t>
            </a:r>
            <a:r>
              <a:rPr lang="en-US" sz="2200" dirty="0">
                <a:latin typeface="Times New Roman" panose="02020603050405020304" pitchFamily="18" charset="0"/>
                <a:cs typeface="Times New Roman" panose="02020603050405020304" pitchFamily="18" charset="0"/>
              </a:rPr>
              <a:t> Malicious Users’ Circle Detection in Social Network Based on </a:t>
            </a:r>
            <a:r>
              <a:rPr lang="en-US" sz="2200" dirty="0" err="1">
                <a:latin typeface="Times New Roman" panose="02020603050405020304" pitchFamily="18" charset="0"/>
                <a:cs typeface="Times New Roman" panose="02020603050405020304" pitchFamily="18" charset="0"/>
              </a:rPr>
              <a:t>Spatio</a:t>
            </a:r>
            <a:r>
              <a:rPr lang="en-US" sz="2200" dirty="0">
                <a:latin typeface="Times New Roman" panose="02020603050405020304" pitchFamily="18" charset="0"/>
                <a:cs typeface="Times New Roman" panose="02020603050405020304" pitchFamily="18" charset="0"/>
              </a:rPr>
              <a:t>-Temporal Co-Occurrence</a:t>
            </a:r>
          </a:p>
          <a:p>
            <a:pPr marL="522900" indent="-342900">
              <a:lnSpc>
                <a:spcPct val="100000"/>
              </a:lnSpc>
            </a:pPr>
            <a:r>
              <a:rPr lang="en-US" sz="2200" b="1" dirty="0">
                <a:latin typeface="Times New Roman" panose="02020603050405020304" pitchFamily="18" charset="0"/>
                <a:cs typeface="Times New Roman" panose="02020603050405020304" pitchFamily="18" charset="0"/>
              </a:rPr>
              <a:t>Authors:</a:t>
            </a:r>
            <a:r>
              <a:rPr lang="en-US" sz="2200" dirty="0">
                <a:latin typeface="Times New Roman" panose="02020603050405020304" pitchFamily="18" charset="0"/>
                <a:cs typeface="Times New Roman" panose="02020603050405020304" pitchFamily="18" charset="0"/>
              </a:rPr>
              <a:t> Z. Halim, M. Gul, N. ul Hassan, R. Baig, S. Rehman, F. Naz</a:t>
            </a:r>
          </a:p>
          <a:p>
            <a:pPr marL="522900" indent="-342900">
              <a:lnSpc>
                <a:spcPct val="100000"/>
              </a:lnSpc>
            </a:pPr>
            <a:r>
              <a:rPr lang="en-US" sz="2200" b="1" dirty="0">
                <a:latin typeface="Times New Roman" panose="02020603050405020304" pitchFamily="18" charset="0"/>
                <a:cs typeface="Times New Roman" panose="02020603050405020304" pitchFamily="18" charset="0"/>
              </a:rPr>
              <a:t>Published:</a:t>
            </a:r>
            <a:r>
              <a:rPr lang="en-US" sz="2200" dirty="0">
                <a:latin typeface="Times New Roman" panose="02020603050405020304" pitchFamily="18" charset="0"/>
                <a:cs typeface="Times New Roman" panose="02020603050405020304" pitchFamily="18" charset="0"/>
              </a:rPr>
              <a:t> International Conference on Computer Networks and Information Technology (ICCNIT),July 2011</a:t>
            </a:r>
          </a:p>
          <a:p>
            <a:pPr marL="522900" indent="-342900">
              <a:lnSpc>
                <a:spcPct val="100000"/>
              </a:lnSpc>
            </a:pPr>
            <a:r>
              <a:rPr lang="en-US" sz="2200" b="1" dirty="0">
                <a:latin typeface="Times New Roman" panose="02020603050405020304" pitchFamily="18" charset="0"/>
                <a:cs typeface="Times New Roman" panose="02020603050405020304" pitchFamily="18" charset="0"/>
              </a:rPr>
              <a:t>Summary :</a:t>
            </a:r>
            <a:r>
              <a:rPr lang="en-US" sz="2200" dirty="0">
                <a:latin typeface="Times New Roman" panose="02020603050405020304" pitchFamily="18" charset="0"/>
                <a:cs typeface="Times New Roman" panose="02020603050405020304" pitchFamily="18" charset="0"/>
              </a:rPr>
              <a:t>The paper proposes a method to detect malicious users in social networks by analyzing </a:t>
            </a:r>
            <a:r>
              <a:rPr lang="en-US" sz="2200" dirty="0" err="1">
                <a:latin typeface="Times New Roman" panose="02020603050405020304" pitchFamily="18" charset="0"/>
                <a:cs typeface="Times New Roman" panose="02020603050405020304" pitchFamily="18" charset="0"/>
              </a:rPr>
              <a:t>spatio</a:t>
            </a:r>
            <a:r>
              <a:rPr lang="en-US" sz="2200" dirty="0">
                <a:latin typeface="Times New Roman" panose="02020603050405020304" pitchFamily="18" charset="0"/>
                <a:cs typeface="Times New Roman" panose="02020603050405020304" pitchFamily="18" charset="0"/>
              </a:rPr>
              <a:t>-temporal co-occurrence patterns. It focuses on identifying suspicious user groups based on their location and activity timing. The approach utilizes data mining techniques to analyze user behavior and interactions. The method aims to enhance security by identifying potential threats through pattern recognition. This research contributes to the field by providing a novel approach to detecting malicious activities in social networks.</a:t>
            </a:r>
          </a:p>
          <a:p>
            <a:pPr marL="0" indent="0">
              <a:buNone/>
            </a:pPr>
            <a:endParaRPr lang="en-US" sz="2400" dirty="0"/>
          </a:p>
        </p:txBody>
      </p:sp>
    </p:spTree>
    <p:extLst>
      <p:ext uri="{BB962C8B-B14F-4D97-AF65-F5344CB8AC3E}">
        <p14:creationId xmlns:p14="http://schemas.microsoft.com/office/powerpoint/2010/main" val="2033288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24AB4-693C-F461-58E3-D4EB39667CF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a:t>
            </a:r>
            <a:endParaRPr lang="en-IN"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D211BB47-33BC-E8FF-6389-B53EBD0146A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33368" y="1327355"/>
            <a:ext cx="5948516" cy="5165519"/>
          </a:xfrm>
          <a:prstGeom prst="rect">
            <a:avLst/>
          </a:prstGeom>
          <a:noFill/>
          <a:ln>
            <a:noFill/>
          </a:ln>
        </p:spPr>
      </p:pic>
    </p:spTree>
    <p:extLst>
      <p:ext uri="{BB962C8B-B14F-4D97-AF65-F5344CB8AC3E}">
        <p14:creationId xmlns:p14="http://schemas.microsoft.com/office/powerpoint/2010/main" val="2890937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0B2C7-2491-675F-5DB7-848917C0549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EXPLANATION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5ADC15-F7E9-96D1-90C3-F6A8A63AEE37}"/>
              </a:ext>
            </a:extLst>
          </p:cNvPr>
          <p:cNvSpPr>
            <a:spLocks noGrp="1"/>
          </p:cNvSpPr>
          <p:nvPr>
            <p:ph idx="1"/>
          </p:nvPr>
        </p:nvSpPr>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The diagram illustrates a system for fake profile detection involving three main components: the Web Server, the Web Database, and two user roles — the Service Provider and the Remote User. The web server handles data flow, processing all user queries and storing results in the web database. The Service Provider has advanced capabilities, including logging in, training and testing user profile datasets, viewing accuracy in charts, analyzing prediction ratios, downloading predicted data, and viewing all remote users. The Remote User, on the other hand, can register, log in, check their profile identification status, and view their profile. The system enables data to be accepted, processed, stored, and retrieved efficiently, supporting real-time identity prediction and monitoring of fake profiles.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6303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F5B41-944D-C6EB-4241-9F4EDC786442}"/>
              </a:ext>
            </a:extLst>
          </p:cNvPr>
          <p:cNvSpPr>
            <a:spLocks noGrp="1"/>
          </p:cNvSpPr>
          <p:nvPr>
            <p:ph type="title"/>
          </p:nvPr>
        </p:nvSpPr>
        <p:spPr>
          <a:xfrm>
            <a:off x="550606" y="365125"/>
            <a:ext cx="10803194" cy="1325563"/>
          </a:xfrm>
        </p:spPr>
        <p:txBody>
          <a:bodyPr/>
          <a:lstStyle/>
          <a:p>
            <a:r>
              <a:rPr lang="en-IN" b="1" dirty="0">
                <a:latin typeface="Times New Roman" panose="02020603050405020304" pitchFamily="18" charset="0"/>
                <a:cs typeface="Times New Roman" panose="02020603050405020304" pitchFamily="18" charset="0"/>
              </a:rPr>
              <a:t>SYSTEM REQUIREMENTS</a:t>
            </a:r>
          </a:p>
        </p:txBody>
      </p:sp>
      <p:sp>
        <p:nvSpPr>
          <p:cNvPr id="4" name="Rectangle 1">
            <a:extLst>
              <a:ext uri="{FF2B5EF4-FFF2-40B4-BE49-F238E27FC236}">
                <a16:creationId xmlns:a16="http://schemas.microsoft.com/office/drawing/2014/main" id="{27447E43-4B5B-DAA8-A196-EB117D949F6D}"/>
              </a:ext>
            </a:extLst>
          </p:cNvPr>
          <p:cNvSpPr>
            <a:spLocks noGrp="1" noChangeArrowheads="1"/>
          </p:cNvSpPr>
          <p:nvPr>
            <p:ph idx="1"/>
          </p:nvPr>
        </p:nvSpPr>
        <p:spPr bwMode="auto">
          <a:xfrm>
            <a:off x="550606" y="1561436"/>
            <a:ext cx="11405419"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200" b="1" dirty="0">
                <a:latin typeface="Times New Roman" panose="02020603050405020304" pitchFamily="18" charset="0"/>
                <a:cs typeface="Times New Roman" panose="02020603050405020304" pitchFamily="18" charset="0"/>
              </a:rPr>
              <a:t>Hardware System Configuration</a:t>
            </a:r>
          </a:p>
          <a:p>
            <a:pPr marL="0" marR="0" lvl="0" indent="0" algn="l" defTabSz="914400" rtl="0" eaLnBrk="0" fontAlgn="base" latinLnBrk="0" hangingPunct="0">
              <a:lnSpc>
                <a:spcPct val="100000"/>
              </a:lnSpc>
              <a:spcBef>
                <a:spcPct val="0"/>
              </a:spcBef>
              <a:spcAft>
                <a:spcPct val="0"/>
              </a:spcAft>
              <a:buClrTx/>
              <a:buSzTx/>
              <a:buNone/>
              <a:tabLst/>
            </a:pPr>
            <a:r>
              <a:rPr lang="en-US" sz="2200" dirty="0">
                <a:latin typeface="Times New Roman" panose="02020603050405020304" pitchFamily="18" charset="0"/>
                <a:cs typeface="Times New Roman" panose="02020603050405020304" pitchFamily="18" charset="0"/>
              </a:rPr>
              <a:t>Processor - Pentium –IV RAM - 4 GB (min) </a:t>
            </a:r>
          </a:p>
          <a:p>
            <a:pPr marL="0" marR="0" lvl="0" indent="0" algn="l" defTabSz="914400" rtl="0" eaLnBrk="0" fontAlgn="base" latinLnBrk="0" hangingPunct="0">
              <a:lnSpc>
                <a:spcPct val="100000"/>
              </a:lnSpc>
              <a:spcBef>
                <a:spcPct val="0"/>
              </a:spcBef>
              <a:spcAft>
                <a:spcPct val="0"/>
              </a:spcAft>
              <a:buClrTx/>
              <a:buSzTx/>
              <a:buNone/>
              <a:tabLst/>
            </a:pPr>
            <a:r>
              <a:rPr lang="en-US" sz="2200" dirty="0">
                <a:latin typeface="Times New Roman" panose="02020603050405020304" pitchFamily="18" charset="0"/>
                <a:cs typeface="Times New Roman" panose="02020603050405020304" pitchFamily="18" charset="0"/>
              </a:rPr>
              <a:t>Hard Disk - 20 GB</a:t>
            </a:r>
          </a:p>
          <a:p>
            <a:pPr marL="0" marR="0" lvl="0" indent="0" algn="l" defTabSz="914400" rtl="0" eaLnBrk="0" fontAlgn="base" latinLnBrk="0" hangingPunct="0">
              <a:lnSpc>
                <a:spcPct val="100000"/>
              </a:lnSpc>
              <a:spcBef>
                <a:spcPct val="0"/>
              </a:spcBef>
              <a:spcAft>
                <a:spcPct val="0"/>
              </a:spcAft>
              <a:buClrTx/>
              <a:buSzTx/>
              <a:buNone/>
              <a:tabLst/>
            </a:pPr>
            <a:r>
              <a:rPr lang="en-US" sz="2200" dirty="0">
                <a:latin typeface="Times New Roman" panose="02020603050405020304" pitchFamily="18" charset="0"/>
                <a:cs typeface="Times New Roman" panose="02020603050405020304" pitchFamily="18" charset="0"/>
              </a:rPr>
              <a:t>Key Board - Standard Windows </a:t>
            </a:r>
          </a:p>
          <a:p>
            <a:pPr marL="0" marR="0" lvl="0" indent="0" algn="l" defTabSz="914400" rtl="0" eaLnBrk="0" fontAlgn="base" latinLnBrk="0" hangingPunct="0">
              <a:lnSpc>
                <a:spcPct val="100000"/>
              </a:lnSpc>
              <a:spcBef>
                <a:spcPct val="0"/>
              </a:spcBef>
              <a:spcAft>
                <a:spcPct val="0"/>
              </a:spcAft>
              <a:buClrTx/>
              <a:buSzTx/>
              <a:buNone/>
              <a:tabLst/>
            </a:pPr>
            <a:r>
              <a:rPr lang="en-US" sz="2200" dirty="0">
                <a:latin typeface="Times New Roman" panose="02020603050405020304" pitchFamily="18" charset="0"/>
                <a:cs typeface="Times New Roman" panose="02020603050405020304" pitchFamily="18" charset="0"/>
              </a:rPr>
              <a:t>Keyboard Mouse - Two or Three Button Mouse</a:t>
            </a:r>
          </a:p>
          <a:p>
            <a:pPr marL="0" marR="0" lvl="0" indent="0" algn="l" defTabSz="914400" rtl="0" eaLnBrk="0" fontAlgn="base" latinLnBrk="0" hangingPunct="0">
              <a:lnSpc>
                <a:spcPct val="100000"/>
              </a:lnSpc>
              <a:spcBef>
                <a:spcPct val="0"/>
              </a:spcBef>
              <a:spcAft>
                <a:spcPct val="0"/>
              </a:spcAft>
              <a:buClrTx/>
              <a:buSzTx/>
              <a:buNone/>
              <a:tabLst/>
            </a:pPr>
            <a:r>
              <a:rPr lang="en-US" sz="2200" dirty="0">
                <a:latin typeface="Times New Roman" panose="02020603050405020304" pitchFamily="18" charset="0"/>
                <a:cs typeface="Times New Roman" panose="02020603050405020304" pitchFamily="18" charset="0"/>
              </a:rPr>
              <a:t>Monitor – SVGA</a:t>
            </a:r>
          </a:p>
          <a:p>
            <a:pPr marL="0" marR="0" lvl="0" indent="0" algn="l" defTabSz="914400" rtl="0" eaLnBrk="0" fontAlgn="base" latinLnBrk="0" hangingPunct="0">
              <a:lnSpc>
                <a:spcPct val="100000"/>
              </a:lnSpc>
              <a:spcBef>
                <a:spcPct val="0"/>
              </a:spcBef>
              <a:spcAft>
                <a:spcPct val="0"/>
              </a:spcAft>
              <a:buClrTx/>
              <a:buSzTx/>
              <a:buFontTx/>
              <a:buChar char="•"/>
              <a:tabLst/>
            </a:pPr>
            <a:r>
              <a:rPr lang="en-IN" sz="2200" b="1" dirty="0">
                <a:latin typeface="Times New Roman" panose="02020603050405020304" pitchFamily="18" charset="0"/>
                <a:cs typeface="Times New Roman" panose="02020603050405020304" pitchFamily="18" charset="0"/>
              </a:rPr>
              <a:t>Software System Requirements</a:t>
            </a:r>
          </a:p>
          <a:p>
            <a:pPr marL="0" marR="0" lvl="0" indent="0" algn="l" defTabSz="914400" rtl="0" eaLnBrk="0" fontAlgn="base" latinLnBrk="0" hangingPunct="0">
              <a:lnSpc>
                <a:spcPct val="100000"/>
              </a:lnSpc>
              <a:spcBef>
                <a:spcPct val="0"/>
              </a:spcBef>
              <a:spcAft>
                <a:spcPct val="0"/>
              </a:spcAft>
              <a:buClrTx/>
              <a:buSzTx/>
              <a:buNone/>
              <a:tabLst/>
            </a:pPr>
            <a:r>
              <a:rPr lang="en-IN" sz="2200" dirty="0">
                <a:latin typeface="Times New Roman" panose="02020603050405020304" pitchFamily="18" charset="0"/>
                <a:cs typeface="Times New Roman" panose="02020603050405020304" pitchFamily="18" charset="0"/>
              </a:rPr>
              <a:t>Operating system : Windows 7 Ultimate. </a:t>
            </a:r>
          </a:p>
          <a:p>
            <a:pPr marL="0" marR="0" lvl="0" indent="0" algn="l" defTabSz="914400" rtl="0" eaLnBrk="0" fontAlgn="base" latinLnBrk="0" hangingPunct="0">
              <a:lnSpc>
                <a:spcPct val="100000"/>
              </a:lnSpc>
              <a:spcBef>
                <a:spcPct val="0"/>
              </a:spcBef>
              <a:spcAft>
                <a:spcPct val="0"/>
              </a:spcAft>
              <a:buClrTx/>
              <a:buSzTx/>
              <a:buNone/>
              <a:tabLst/>
            </a:pPr>
            <a:r>
              <a:rPr lang="en-IN" sz="2200" dirty="0">
                <a:latin typeface="Times New Roman" panose="02020603050405020304" pitchFamily="18" charset="0"/>
                <a:cs typeface="Times New Roman" panose="02020603050405020304" pitchFamily="18" charset="0"/>
              </a:rPr>
              <a:t>Coding Language : Python. </a:t>
            </a:r>
          </a:p>
          <a:p>
            <a:pPr marL="0" marR="0" lvl="0" indent="0" algn="l" defTabSz="914400" rtl="0" eaLnBrk="0" fontAlgn="base" latinLnBrk="0" hangingPunct="0">
              <a:lnSpc>
                <a:spcPct val="100000"/>
              </a:lnSpc>
              <a:spcBef>
                <a:spcPct val="0"/>
              </a:spcBef>
              <a:spcAft>
                <a:spcPct val="0"/>
              </a:spcAft>
              <a:buClrTx/>
              <a:buSzTx/>
              <a:buNone/>
              <a:tabLst/>
            </a:pPr>
            <a:r>
              <a:rPr lang="en-IN" sz="2200" dirty="0">
                <a:latin typeface="Times New Roman" panose="02020603050405020304" pitchFamily="18" charset="0"/>
                <a:cs typeface="Times New Roman" panose="02020603050405020304" pitchFamily="18" charset="0"/>
              </a:rPr>
              <a:t>Front-End : Python. </a:t>
            </a:r>
          </a:p>
          <a:p>
            <a:pPr marL="0" marR="0" lvl="0" indent="0" algn="l" defTabSz="914400" rtl="0" eaLnBrk="0" fontAlgn="base" latinLnBrk="0" hangingPunct="0">
              <a:lnSpc>
                <a:spcPct val="100000"/>
              </a:lnSpc>
              <a:spcBef>
                <a:spcPct val="0"/>
              </a:spcBef>
              <a:spcAft>
                <a:spcPct val="0"/>
              </a:spcAft>
              <a:buClrTx/>
              <a:buSzTx/>
              <a:buNone/>
              <a:tabLst/>
            </a:pPr>
            <a:r>
              <a:rPr lang="en-IN" sz="2200" dirty="0">
                <a:latin typeface="Times New Roman" panose="02020603050405020304" pitchFamily="18" charset="0"/>
                <a:cs typeface="Times New Roman" panose="02020603050405020304" pitchFamily="18" charset="0"/>
              </a:rPr>
              <a:t>Back-End : Django-ORM </a:t>
            </a:r>
          </a:p>
          <a:p>
            <a:pPr marL="0" marR="0" lvl="0" indent="0" algn="l" defTabSz="914400" rtl="0" eaLnBrk="0" fontAlgn="base" latinLnBrk="0" hangingPunct="0">
              <a:lnSpc>
                <a:spcPct val="100000"/>
              </a:lnSpc>
              <a:spcBef>
                <a:spcPct val="0"/>
              </a:spcBef>
              <a:spcAft>
                <a:spcPct val="0"/>
              </a:spcAft>
              <a:buClrTx/>
              <a:buSzTx/>
              <a:buNone/>
              <a:tabLst/>
            </a:pPr>
            <a:r>
              <a:rPr lang="en-IN" sz="2200" dirty="0">
                <a:latin typeface="Times New Roman" panose="02020603050405020304" pitchFamily="18" charset="0"/>
                <a:cs typeface="Times New Roman" panose="02020603050405020304" pitchFamily="18" charset="0"/>
              </a:rPr>
              <a:t>Designing : Html ,</a:t>
            </a:r>
            <a:r>
              <a:rPr lang="en-IN" sz="2200" dirty="0" err="1">
                <a:latin typeface="Times New Roman" panose="02020603050405020304" pitchFamily="18" charset="0"/>
                <a:cs typeface="Times New Roman" panose="02020603050405020304" pitchFamily="18" charset="0"/>
              </a:rPr>
              <a:t>css</a:t>
            </a:r>
            <a:r>
              <a:rPr lang="en-IN" sz="2200" dirty="0">
                <a:latin typeface="Times New Roman" panose="02020603050405020304" pitchFamily="18" charset="0"/>
                <a:cs typeface="Times New Roman" panose="02020603050405020304" pitchFamily="18" charset="0"/>
              </a:rPr>
              <a:t> , </a:t>
            </a:r>
            <a:r>
              <a:rPr lang="en-IN" sz="2200" dirty="0" err="1">
                <a:latin typeface="Times New Roman" panose="02020603050405020304" pitchFamily="18" charset="0"/>
                <a:cs typeface="Times New Roman" panose="02020603050405020304" pitchFamily="18" charset="0"/>
              </a:rPr>
              <a:t>javascript</a:t>
            </a:r>
            <a:r>
              <a:rPr lang="en-IN" sz="2200"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lang="en-IN" sz="2200" dirty="0">
                <a:latin typeface="Times New Roman" panose="02020603050405020304" pitchFamily="18" charset="0"/>
                <a:cs typeface="Times New Roman" panose="02020603050405020304" pitchFamily="18" charset="0"/>
              </a:rPr>
              <a:t>Data Base : MySQL (WAMP Server).</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287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A1753-C48E-29F3-30D9-12D7D3AAB0D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pic>
        <p:nvPicPr>
          <p:cNvPr id="5" name="Content Placeholder 4">
            <a:extLst>
              <a:ext uri="{FF2B5EF4-FFF2-40B4-BE49-F238E27FC236}">
                <a16:creationId xmlns:a16="http://schemas.microsoft.com/office/drawing/2014/main" id="{B4C0AD43-B2B1-53CC-08AD-4C8E8E4A5F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5291" y="1825625"/>
            <a:ext cx="8281418" cy="4351338"/>
          </a:xfrm>
        </p:spPr>
      </p:pic>
    </p:spTree>
    <p:extLst>
      <p:ext uri="{BB962C8B-B14F-4D97-AF65-F5344CB8AC3E}">
        <p14:creationId xmlns:p14="http://schemas.microsoft.com/office/powerpoint/2010/main" val="939116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50898-6F14-BAFB-056C-F6F077BBAC1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3BDA210F-2E60-5AC3-FCB2-FA16BB3F67BE}"/>
              </a:ext>
            </a:extLst>
          </p:cNvPr>
          <p:cNvSpPr>
            <a:spLocks noGrp="1"/>
          </p:cNvSpPr>
          <p:nvPr>
            <p:ph idx="1"/>
          </p:nvPr>
        </p:nvSpPr>
        <p:spPr/>
        <p:txBody>
          <a:bodyPr>
            <a:norm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We proposed machine learning algorithms along with natural language processing techniques. By using these techniques, we can easily detect the fake profiles from the social network sites.  we took the Face book Data set to identify the fake profiles. The NLP pre-processing techniques are used to analyze the dataset and machine learning algorithm such as SVM and Naïve Bayes are used to classify the profiles. These learning algorithms are improved the detection accuracy rate .</a:t>
            </a:r>
          </a:p>
          <a:p>
            <a:endParaRPr lang="en-IN" dirty="0"/>
          </a:p>
        </p:txBody>
      </p:sp>
    </p:spTree>
    <p:extLst>
      <p:ext uri="{BB962C8B-B14F-4D97-AF65-F5344CB8AC3E}">
        <p14:creationId xmlns:p14="http://schemas.microsoft.com/office/powerpoint/2010/main" val="4273985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66005" y="2662442"/>
            <a:ext cx="2957861" cy="769441"/>
          </a:xfrm>
          <a:prstGeom prst="rect">
            <a:avLst/>
          </a:prstGeom>
        </p:spPr>
        <p:txBody>
          <a:bodyPr wrap="none">
            <a:spAutoFit/>
          </a:bodyPr>
          <a:lstStyle/>
          <a:p>
            <a:r>
              <a:rPr lang="en-US" sz="4400" b="1" dirty="0">
                <a:latin typeface="Times New Roman" panose="02020603050405020304" pitchFamily="18" charset="0"/>
                <a:cs typeface="Times New Roman" panose="02020603050405020304" pitchFamily="18" charset="0"/>
              </a:rPr>
              <a:t> </a:t>
            </a:r>
            <a:r>
              <a:rPr lang="en-US" sz="4400" dirty="0">
                <a:latin typeface="Times New Roman" panose="02020603050405020304" pitchFamily="18" charset="0"/>
                <a:cs typeface="Times New Roman" panose="02020603050405020304" pitchFamily="18" charset="0"/>
              </a:rPr>
              <a:t>QUERIES?</a:t>
            </a:r>
            <a:endParaRPr lang="en-IN" sz="4400" dirty="0"/>
          </a:p>
        </p:txBody>
      </p:sp>
    </p:spTree>
    <p:extLst>
      <p:ext uri="{BB962C8B-B14F-4D97-AF65-F5344CB8AC3E}">
        <p14:creationId xmlns:p14="http://schemas.microsoft.com/office/powerpoint/2010/main" val="1970237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4467A-D0D4-A2C7-0363-C27673652EE9}"/>
              </a:ext>
            </a:extLst>
          </p:cNvPr>
          <p:cNvSpPr>
            <a:spLocks noGrp="1"/>
          </p:cNvSpPr>
          <p:nvPr>
            <p:ph type="title"/>
          </p:nvPr>
        </p:nvSpPr>
        <p:spPr>
          <a:xfrm>
            <a:off x="317091" y="2290250"/>
            <a:ext cx="10515600" cy="1809802"/>
          </a:xfrm>
        </p:spPr>
        <p:txBody>
          <a:bodyPr>
            <a:normAutofit/>
          </a:bodyPr>
          <a:lstStyle/>
          <a:p>
            <a:pPr algn="ctr"/>
            <a:r>
              <a:rPr lang="en-US"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3168906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1355</TotalTime>
  <Words>1582</Words>
  <Application>Microsoft Office PowerPoint</Application>
  <PresentationFormat>Widescreen</PresentationFormat>
  <Paragraphs>88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PowerPoint Presentation</vt:lpstr>
      <vt:lpstr>CONTENT</vt:lpstr>
      <vt:lpstr>ABSTRACT</vt:lpstr>
      <vt:lpstr>INTRODUCTION</vt:lpstr>
      <vt:lpstr>EXISTING SYSTEM</vt:lpstr>
      <vt:lpstr>PROBLEMS</vt:lpstr>
      <vt:lpstr>PROPOSED SYSTEM</vt:lpstr>
      <vt:lpstr>ADVANTAGES</vt:lpstr>
      <vt:lpstr>LITERATURE REVIEW</vt:lpstr>
      <vt:lpstr>LITERATURE REVIEW</vt:lpstr>
      <vt:lpstr>LITERATURE REVIEW</vt:lpstr>
      <vt:lpstr>SYSTEM ARCHITECTURE</vt:lpstr>
      <vt:lpstr>EXPLANATION</vt:lpstr>
      <vt:lpstr>SYSTEM REQUIREMENTS</vt:lpstr>
      <vt:lpstr>RESULTS</vt:lpstr>
      <vt:lpstr>CONCLUSION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Bharath shiva Palancha</dc:creator>
  <cp:lastModifiedBy>nikithabodramoni@outlook.com</cp:lastModifiedBy>
  <cp:revision>38</cp:revision>
  <dcterms:created xsi:type="dcterms:W3CDTF">2025-01-07T06:19:31Z</dcterms:created>
  <dcterms:modified xsi:type="dcterms:W3CDTF">2025-05-24T06:53:56Z</dcterms:modified>
</cp:coreProperties>
</file>